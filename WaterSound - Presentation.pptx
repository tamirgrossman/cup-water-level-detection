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6" r:id="rId7"/>
    <p:sldId id="274" r:id="rId8"/>
    <p:sldId id="262" r:id="rId9"/>
    <p:sldId id="273" r:id="rId10"/>
    <p:sldId id="275" r:id="rId11"/>
    <p:sldId id="276" r:id="rId12"/>
    <p:sldId id="264" r:id="rId13"/>
    <p:sldId id="280" r:id="rId14"/>
    <p:sldId id="263" r:id="rId15"/>
    <p:sldId id="278" r:id="rId16"/>
    <p:sldId id="279" r:id="rId17"/>
    <p:sldId id="265" r:id="rId18"/>
    <p:sldId id="267" r:id="rId19"/>
    <p:sldId id="268" r:id="rId20"/>
    <p:sldId id="281" r:id="rId21"/>
    <p:sldId id="269" r:id="rId22"/>
    <p:sldId id="271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160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with the everyday act of filling a glass and stopping by ear. State the frame: classical ML, proof of concept, no deep learning, no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audience the map. Point out that the middle four sections are exactly what the project brief requires: data collection, data analysis, how it decides,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physics: the cup is a closing air pipe, f ≈ c/4L; as L shrinks the pitch rises. Stress we don't hand-code this — the model learns the signature. Use the bars to show the shrinking air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task crisply (5-class classification) and the brief's ground rules. The right column shows we respected every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recording protocol. Emphasise that the controlled conditions are what make the experiment fair and the strong results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right, then hammer the leakage point: scaling/selection/tuning happen inside the training fold; the test set stays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windowing (5 windows = temporal evolution) and the six feature families. End on the funnel: 1 clip → 145 features → one CSV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ANOVA chart. The top features — spectral flatness, MFCCs, onset counts — are all physically tied to pouring, which validates the whole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three classical feature-selection families and what each trades off. We studied all three; filter (ANOVA) is what we show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models and why trees suit tabular, small data. Explain the simple probability-averaging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validation toolkit and read the CV chart: Random Forest ~98% mean, ahead of XGBoost and stable across folds.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confusion matrices on the 45-sample test set: XGBoost ~89%, Random Forest perfect. Key insight: errors are always to a neighbouring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sanity check: convert predicted fill to flow rate; predicted equals true to the decimal per cup. This is evidence beyond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insights and the conclusion. End on next steps — real-time, noise, more liquids/cups — i.e. the engineering-project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PROOF OF CONCEPT · CLASSICAL ML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4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Water-Level Detection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how full a cup is — from the sound of the pour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77240" y="38404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  </a:t>
            </a: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 to Machine Learning  ·  Dr. Dima </a:t>
            </a:r>
            <a:r>
              <a:rPr lang="en-US" sz="1100" dirty="0" err="1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Bykhovsky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42245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    </a:t>
            </a: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Bastaker · Tamir Grossman · Amit </a:t>
            </a:r>
            <a:r>
              <a:rPr lang="en-US" sz="1100" dirty="0" err="1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Nigerker</a:t>
            </a: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lang="en-US" sz="110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Yuval Holoidovsky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talk is structured</a:t>
            </a:r>
            <a:endParaRPr lang="en-US" sz="2900" dirty="0"/>
          </a:p>
        </p:txBody>
      </p:sp>
      <p:sp>
        <p:nvSpPr>
          <p:cNvPr id="5" name="Card 5"/>
          <p:cNvSpPr/>
          <p:nvPr/>
        </p:nvSpPr>
        <p:spPr>
          <a:xfrm>
            <a:off x="502920" y="1524000"/>
            <a:ext cx="8138160" cy="414528"/>
          </a:xfrm>
          <a:prstGeom prst="roundRect">
            <a:avLst>
              <a:gd name="adj" fmla="val 9677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Num 6"/>
          <p:cNvSpPr/>
          <p:nvPr/>
        </p:nvSpPr>
        <p:spPr>
          <a:xfrm>
            <a:off x="658368" y="1524000"/>
            <a:ext cx="64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con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594104"/>
            <a:ext cx="274320" cy="274320"/>
          </a:xfrm>
          <a:prstGeom prst="rect">
            <a:avLst/>
          </a:prstGeom>
        </p:spPr>
      </p:pic>
      <p:sp>
        <p:nvSpPr>
          <p:cNvPr id="8" name="Title 8"/>
          <p:cNvSpPr/>
          <p:nvPr/>
        </p:nvSpPr>
        <p:spPr>
          <a:xfrm>
            <a:off x="1810512" y="1524000"/>
            <a:ext cx="2743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physics</a:t>
            </a:r>
            <a:endParaRPr lang="en-US" sz="1450" dirty="0"/>
          </a:p>
        </p:txBody>
      </p:sp>
      <p:sp>
        <p:nvSpPr>
          <p:cNvPr id="9" name="Desc 9"/>
          <p:cNvSpPr/>
          <p:nvPr/>
        </p:nvSpPr>
        <p:spPr>
          <a:xfrm>
            <a:off x="4526280" y="1524000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pour sound carries fill information</a:t>
            </a:r>
            <a:endParaRPr lang="en-US" sz="1150" dirty="0"/>
          </a:p>
        </p:txBody>
      </p:sp>
      <p:sp>
        <p:nvSpPr>
          <p:cNvPr id="10" name="Card 10"/>
          <p:cNvSpPr/>
          <p:nvPr/>
        </p:nvSpPr>
        <p:spPr>
          <a:xfrm>
            <a:off x="502920" y="1990344"/>
            <a:ext cx="8138160" cy="414528"/>
          </a:xfrm>
          <a:prstGeom prst="roundRect">
            <a:avLst>
              <a:gd name="adj" fmla="val 9677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Num 11"/>
          <p:cNvSpPr/>
          <p:nvPr/>
        </p:nvSpPr>
        <p:spPr>
          <a:xfrm>
            <a:off x="658368" y="1990344"/>
            <a:ext cx="64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con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060448"/>
            <a:ext cx="274320" cy="274320"/>
          </a:xfrm>
          <a:prstGeom prst="rect">
            <a:avLst/>
          </a:prstGeom>
        </p:spPr>
      </p:pic>
      <p:sp>
        <p:nvSpPr>
          <p:cNvPr id="13" name="Title 13"/>
          <p:cNvSpPr/>
          <p:nvPr/>
        </p:nvSpPr>
        <p:spPr>
          <a:xfrm>
            <a:off x="1810512" y="1990344"/>
            <a:ext cx="2743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14" name="Desc 14"/>
          <p:cNvSpPr/>
          <p:nvPr/>
        </p:nvSpPr>
        <p:spPr>
          <a:xfrm>
            <a:off x="4526280" y="1990344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controlled recordings across 3 cups</a:t>
            </a:r>
            <a:endParaRPr lang="en-US" sz="1150" dirty="0"/>
          </a:p>
        </p:txBody>
      </p:sp>
      <p:sp>
        <p:nvSpPr>
          <p:cNvPr id="16" name="Card 16"/>
          <p:cNvSpPr/>
          <p:nvPr/>
        </p:nvSpPr>
        <p:spPr>
          <a:xfrm>
            <a:off x="502920" y="2456688"/>
            <a:ext cx="8138160" cy="414528"/>
          </a:xfrm>
          <a:prstGeom prst="roundRect">
            <a:avLst>
              <a:gd name="adj" fmla="val 9677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Num 17"/>
          <p:cNvSpPr/>
          <p:nvPr/>
        </p:nvSpPr>
        <p:spPr>
          <a:xfrm>
            <a:off x="658368" y="2456688"/>
            <a:ext cx="64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Icon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2526792"/>
            <a:ext cx="274320" cy="274320"/>
          </a:xfrm>
          <a:prstGeom prst="rect">
            <a:avLst/>
          </a:prstGeom>
        </p:spPr>
      </p:pic>
      <p:sp>
        <p:nvSpPr>
          <p:cNvPr id="19" name="Title 19"/>
          <p:cNvSpPr/>
          <p:nvPr/>
        </p:nvSpPr>
        <p:spPr>
          <a:xfrm>
            <a:off x="1810512" y="2456688"/>
            <a:ext cx="2743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450" dirty="0"/>
          </a:p>
        </p:txBody>
      </p:sp>
      <p:sp>
        <p:nvSpPr>
          <p:cNvPr id="20" name="Desc 20"/>
          <p:cNvSpPr/>
          <p:nvPr/>
        </p:nvSpPr>
        <p:spPr>
          <a:xfrm>
            <a:off x="4526280" y="2456688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feature extraction → 145 features</a:t>
            </a:r>
            <a:endParaRPr lang="en-US" sz="1150" dirty="0"/>
          </a:p>
        </p:txBody>
      </p:sp>
      <p:sp>
        <p:nvSpPr>
          <p:cNvPr id="22" name="Card 22"/>
          <p:cNvSpPr/>
          <p:nvPr/>
        </p:nvSpPr>
        <p:spPr>
          <a:xfrm>
            <a:off x="502920" y="2923032"/>
            <a:ext cx="8138160" cy="414528"/>
          </a:xfrm>
          <a:prstGeom prst="roundRect">
            <a:avLst>
              <a:gd name="adj" fmla="val 9677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Num 23"/>
          <p:cNvSpPr/>
          <p:nvPr/>
        </p:nvSpPr>
        <p:spPr>
          <a:xfrm>
            <a:off x="658368" y="2923032"/>
            <a:ext cx="64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con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2993136"/>
            <a:ext cx="274320" cy="274320"/>
          </a:xfrm>
          <a:prstGeom prst="rect">
            <a:avLst/>
          </a:prstGeom>
        </p:spPr>
      </p:pic>
      <p:sp>
        <p:nvSpPr>
          <p:cNvPr id="25" name="Title 25"/>
          <p:cNvSpPr/>
          <p:nvPr/>
        </p:nvSpPr>
        <p:spPr>
          <a:xfrm>
            <a:off x="1810512" y="2923032"/>
            <a:ext cx="2743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450" dirty="0"/>
          </a:p>
        </p:txBody>
      </p:sp>
      <p:sp>
        <p:nvSpPr>
          <p:cNvPr id="26" name="Desc 26"/>
          <p:cNvSpPr/>
          <p:nvPr/>
        </p:nvSpPr>
        <p:spPr>
          <a:xfrm>
            <a:off x="4526280" y="2923032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labels, stratified split &amp; scaling</a:t>
            </a:r>
            <a:endParaRPr lang="en-US" sz="1150" dirty="0"/>
          </a:p>
        </p:txBody>
      </p:sp>
      <p:sp>
        <p:nvSpPr>
          <p:cNvPr id="28" name="Card 28"/>
          <p:cNvSpPr/>
          <p:nvPr/>
        </p:nvSpPr>
        <p:spPr>
          <a:xfrm>
            <a:off x="502920" y="3389376"/>
            <a:ext cx="8138160" cy="414528"/>
          </a:xfrm>
          <a:prstGeom prst="roundRect">
            <a:avLst>
              <a:gd name="adj" fmla="val 9677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Num 29"/>
          <p:cNvSpPr/>
          <p:nvPr/>
        </p:nvSpPr>
        <p:spPr>
          <a:xfrm>
            <a:off x="658368" y="3389376"/>
            <a:ext cx="64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pic>
        <p:nvPicPr>
          <p:cNvPr id="30" name="Icon 3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3459480"/>
            <a:ext cx="274320" cy="274320"/>
          </a:xfrm>
          <a:prstGeom prst="rect">
            <a:avLst/>
          </a:prstGeom>
        </p:spPr>
      </p:pic>
      <p:sp>
        <p:nvSpPr>
          <p:cNvPr id="31" name="Title 31"/>
          <p:cNvSpPr/>
          <p:nvPr/>
        </p:nvSpPr>
        <p:spPr>
          <a:xfrm>
            <a:off x="1810512" y="3389376"/>
            <a:ext cx="2743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50" dirty="0"/>
          </a:p>
        </p:txBody>
      </p:sp>
      <p:sp>
        <p:nvSpPr>
          <p:cNvPr id="32" name="Desc 32"/>
          <p:cNvSpPr/>
          <p:nvPr/>
        </p:nvSpPr>
        <p:spPr>
          <a:xfrm>
            <a:off x="4526280" y="338937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selection, models, tuning &amp; validation</a:t>
            </a:r>
            <a:endParaRPr lang="en-US" sz="1150" dirty="0"/>
          </a:p>
        </p:txBody>
      </p:sp>
      <p:sp>
        <p:nvSpPr>
          <p:cNvPr id="34" name="Card 34"/>
          <p:cNvSpPr/>
          <p:nvPr/>
        </p:nvSpPr>
        <p:spPr>
          <a:xfrm>
            <a:off x="502920" y="3855720"/>
            <a:ext cx="8138160" cy="414528"/>
          </a:xfrm>
          <a:prstGeom prst="roundRect">
            <a:avLst>
              <a:gd name="adj" fmla="val 9677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Num 35"/>
          <p:cNvSpPr/>
          <p:nvPr/>
        </p:nvSpPr>
        <p:spPr>
          <a:xfrm>
            <a:off x="658368" y="3855720"/>
            <a:ext cx="64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pic>
        <p:nvPicPr>
          <p:cNvPr id="36" name="Icon 3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925824"/>
            <a:ext cx="274320" cy="274320"/>
          </a:xfrm>
          <a:prstGeom prst="rect">
            <a:avLst/>
          </a:prstGeom>
        </p:spPr>
      </p:pic>
      <p:sp>
        <p:nvSpPr>
          <p:cNvPr id="37" name="Title 37"/>
          <p:cNvSpPr/>
          <p:nvPr/>
        </p:nvSpPr>
        <p:spPr>
          <a:xfrm>
            <a:off x="1810512" y="3855720"/>
            <a:ext cx="2743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50" dirty="0"/>
          </a:p>
        </p:txBody>
      </p:sp>
      <p:sp>
        <p:nvSpPr>
          <p:cNvPr id="38" name="Desc 38"/>
          <p:cNvSpPr/>
          <p:nvPr/>
        </p:nvSpPr>
        <p:spPr>
          <a:xfrm>
            <a:off x="4526280" y="3855720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&amp; independent physical check</a:t>
            </a:r>
            <a:endParaRPr lang="en-US" sz="1150" dirty="0"/>
          </a:p>
        </p:txBody>
      </p:sp>
      <p:sp>
        <p:nvSpPr>
          <p:cNvPr id="40" name="Card 40"/>
          <p:cNvSpPr/>
          <p:nvPr/>
        </p:nvSpPr>
        <p:spPr>
          <a:xfrm>
            <a:off x="502920" y="4322064"/>
            <a:ext cx="8138160" cy="414528"/>
          </a:xfrm>
          <a:prstGeom prst="roundRect">
            <a:avLst>
              <a:gd name="adj" fmla="val 9677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Num 41"/>
          <p:cNvSpPr/>
          <p:nvPr/>
        </p:nvSpPr>
        <p:spPr>
          <a:xfrm>
            <a:off x="658368" y="4322064"/>
            <a:ext cx="64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pic>
        <p:nvPicPr>
          <p:cNvPr id="42" name="Icon 4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4392168"/>
            <a:ext cx="274320" cy="274320"/>
          </a:xfrm>
          <a:prstGeom prst="rect">
            <a:avLst/>
          </a:prstGeom>
        </p:spPr>
      </p:pic>
      <p:sp>
        <p:nvSpPr>
          <p:cNvPr id="43" name="Title 43"/>
          <p:cNvSpPr/>
          <p:nvPr/>
        </p:nvSpPr>
        <p:spPr>
          <a:xfrm>
            <a:off x="1810512" y="4322064"/>
            <a:ext cx="2743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50" dirty="0"/>
          </a:p>
        </p:txBody>
      </p:sp>
      <p:sp>
        <p:nvSpPr>
          <p:cNvPr id="44" name="Desc 44"/>
          <p:cNvSpPr/>
          <p:nvPr/>
        </p:nvSpPr>
        <p:spPr>
          <a:xfrm>
            <a:off x="4526280" y="4322064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we learned, what’s next</a:t>
            </a:r>
            <a:endParaRPr lang="en-US" sz="1150" dirty="0"/>
          </a:p>
        </p:txBody>
      </p:sp>
      <p:sp>
        <p:nvSpPr>
          <p:cNvPr id="45" name="Text 27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46" name="Text 28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PROBLEM &amp; PHYSICS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pour has a rising pitch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filling cup is a closing air pipe. As water rises, the air column above it gets shorter — and a shorter resonator rings at a higher frequency. The pour's pitch climbs continuously as the cup fills.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9900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8529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≈  c / 4L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column L ↓  ⇒  resonant frequency f ↑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model the physics directly — we let the model learn this acoustic signature from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0" y="1554480"/>
            <a:ext cx="3337560" cy="3246120"/>
          </a:xfrm>
          <a:prstGeom prst="roundRect">
            <a:avLst>
              <a:gd name="adj" fmla="val 169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544068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COLUMN SHRINKS AS WATER RISES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121408"/>
            <a:ext cx="530352" cy="1634581"/>
          </a:xfrm>
          <a:prstGeom prst="rect">
            <a:avLst/>
          </a:prstGeom>
          <a:solidFill>
            <a:srgbClr val="10202C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5532120" y="3755989"/>
            <a:ext cx="530352" cy="358811"/>
          </a:xfrm>
          <a:prstGeom prst="rect">
            <a:avLst/>
          </a:prstGeom>
          <a:solidFill>
            <a:srgbClr val="F4B740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5477256" y="4142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35624" y="2121408"/>
            <a:ext cx="530352" cy="1275771"/>
          </a:xfrm>
          <a:prstGeom prst="rect">
            <a:avLst/>
          </a:prstGeom>
          <a:solidFill>
            <a:srgbClr val="10202C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3"/>
          <p:cNvSpPr/>
          <p:nvPr/>
        </p:nvSpPr>
        <p:spPr>
          <a:xfrm>
            <a:off x="6135624" y="3397179"/>
            <a:ext cx="530352" cy="717621"/>
          </a:xfrm>
          <a:prstGeom prst="rect">
            <a:avLst/>
          </a:prstGeom>
          <a:solidFill>
            <a:srgbClr val="F4B740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6080760" y="4142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739128" y="2121408"/>
            <a:ext cx="530352" cy="916960"/>
          </a:xfrm>
          <a:prstGeom prst="rect">
            <a:avLst/>
          </a:prstGeom>
          <a:solidFill>
            <a:srgbClr val="10202C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6"/>
          <p:cNvSpPr/>
          <p:nvPr/>
        </p:nvSpPr>
        <p:spPr>
          <a:xfrm>
            <a:off x="6739128" y="3038368"/>
            <a:ext cx="530352" cy="1076432"/>
          </a:xfrm>
          <a:prstGeom prst="rect">
            <a:avLst/>
          </a:prstGeom>
          <a:solidFill>
            <a:srgbClr val="F4B740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7"/>
          <p:cNvSpPr/>
          <p:nvPr/>
        </p:nvSpPr>
        <p:spPr>
          <a:xfrm>
            <a:off x="6684264" y="4142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42632" y="2121408"/>
            <a:ext cx="530352" cy="558150"/>
          </a:xfrm>
          <a:prstGeom prst="rect">
            <a:avLst/>
          </a:prstGeom>
          <a:solidFill>
            <a:srgbClr val="10202C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19"/>
          <p:cNvSpPr/>
          <p:nvPr/>
        </p:nvSpPr>
        <p:spPr>
          <a:xfrm>
            <a:off x="7342632" y="2679558"/>
            <a:ext cx="530352" cy="1435242"/>
          </a:xfrm>
          <a:prstGeom prst="rect">
            <a:avLst/>
          </a:prstGeom>
          <a:solidFill>
            <a:srgbClr val="F4B740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0"/>
          <p:cNvSpPr/>
          <p:nvPr/>
        </p:nvSpPr>
        <p:spPr>
          <a:xfrm>
            <a:off x="7287768" y="4142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946136" y="2121408"/>
            <a:ext cx="530352" cy="199339"/>
          </a:xfrm>
          <a:prstGeom prst="rect">
            <a:avLst/>
          </a:prstGeom>
          <a:solidFill>
            <a:srgbClr val="10202C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2"/>
          <p:cNvSpPr/>
          <p:nvPr/>
        </p:nvSpPr>
        <p:spPr>
          <a:xfrm>
            <a:off x="7946136" y="2320747"/>
            <a:ext cx="530352" cy="1794053"/>
          </a:xfrm>
          <a:prstGeom prst="rect">
            <a:avLst/>
          </a:prstGeom>
          <a:solidFill>
            <a:srgbClr val="F4B740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3"/>
          <p:cNvSpPr/>
          <p:nvPr/>
        </p:nvSpPr>
        <p:spPr>
          <a:xfrm>
            <a:off x="7891272" y="4142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4068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water  →  shorter air column  →  higher pitch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OBJECTIVE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977640" cy="3154680"/>
          </a:xfrm>
          <a:prstGeom prst="roundRect">
            <a:avLst>
              <a:gd name="adj" fmla="val 1739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13232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DEFINITION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55648" y="2057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audio of a pour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2560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55648" y="2560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5 fill levels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3063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55648" y="3063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40 · 60 · 80 · 100 %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3566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55648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4069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55648" y="40690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 physical flow rate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977640" cy="3154680"/>
          </a:xfrm>
          <a:prstGeom prst="roundRect">
            <a:avLst>
              <a:gd name="adj" fmla="val 1739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873752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RULES (FROM THE BRIEF)</a:t>
            </a:r>
            <a:endParaRPr lang="en-US" sz="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1226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30368" y="20391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only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 / neural nets</a:t>
            </a:r>
            <a:endParaRPr lang="en-US" sz="12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615184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30368" y="25420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real-time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analysis is acceptable</a:t>
            </a:r>
            <a:endParaRPr lang="en-US" sz="12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18104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30368" y="30449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feasibility with numbers</a:t>
            </a:r>
            <a:endParaRPr lang="en-US" sz="12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621024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30368" y="35478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validation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throughout</a:t>
            </a:r>
            <a:endParaRPr lang="en-US" sz="12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412394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30368" y="4050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tooling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language, libraries and AI tools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DATA COLLECTION &amp; DATASET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controlled dataset</a:t>
            </a:r>
            <a:endParaRPr lang="en-US" sz="2900" dirty="0"/>
          </a:p>
        </p:txBody>
      </p:sp>
      <p:sp>
        <p:nvSpPr>
          <p:cNvPr id="103" name="rr"/>
          <p:cNvSpPr/>
          <p:nvPr/>
        </p:nvSpPr>
        <p:spPr>
          <a:xfrm>
            <a:off x="502920" y="1480000"/>
            <a:ext cx="1947672" cy="90000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b"/>
          <p:cNvSpPr/>
          <p:nvPr/>
        </p:nvSpPr>
        <p:spPr>
          <a:xfrm>
            <a:off x="502920" y="154000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225</a:t>
            </a:r>
            <a:endParaRPr lang="en-US" sz="3000" dirty="0"/>
          </a:p>
        </p:txBody>
      </p:sp>
      <p:sp>
        <p:nvSpPr>
          <p:cNvPr id="105" name="tb"/>
          <p:cNvSpPr/>
          <p:nvPr/>
        </p:nvSpPr>
        <p:spPr>
          <a:xfrm>
            <a:off x="502920" y="20800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recordings</a:t>
            </a:r>
            <a:endParaRPr lang="en-US" sz="950" dirty="0"/>
          </a:p>
        </p:txBody>
      </p:sp>
      <p:sp>
        <p:nvSpPr>
          <p:cNvPr id="106" name="rr"/>
          <p:cNvSpPr/>
          <p:nvPr/>
        </p:nvSpPr>
        <p:spPr>
          <a:xfrm>
            <a:off x="2606040" y="1480000"/>
            <a:ext cx="1947672" cy="90000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b"/>
          <p:cNvSpPr/>
          <p:nvPr/>
        </p:nvSpPr>
        <p:spPr>
          <a:xfrm>
            <a:off x="2606040" y="154000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108" name="tb"/>
          <p:cNvSpPr/>
          <p:nvPr/>
        </p:nvSpPr>
        <p:spPr>
          <a:xfrm>
            <a:off x="2606040" y="20800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cups</a:t>
            </a:r>
            <a:endParaRPr lang="en-US" sz="950" dirty="0"/>
          </a:p>
        </p:txBody>
      </p:sp>
      <p:sp>
        <p:nvSpPr>
          <p:cNvPr id="109" name="rr"/>
          <p:cNvSpPr/>
          <p:nvPr/>
        </p:nvSpPr>
        <p:spPr>
          <a:xfrm>
            <a:off x="4709160" y="1480000"/>
            <a:ext cx="1947672" cy="90000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b"/>
          <p:cNvSpPr/>
          <p:nvPr/>
        </p:nvSpPr>
        <p:spPr>
          <a:xfrm>
            <a:off x="4709160" y="154000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000" dirty="0"/>
          </a:p>
        </p:txBody>
      </p:sp>
      <p:sp>
        <p:nvSpPr>
          <p:cNvPr id="111" name="tb"/>
          <p:cNvSpPr/>
          <p:nvPr/>
        </p:nvSpPr>
        <p:spPr>
          <a:xfrm>
            <a:off x="4709160" y="20800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levels</a:t>
            </a:r>
            <a:endParaRPr lang="en-US" sz="950" dirty="0"/>
          </a:p>
        </p:txBody>
      </p:sp>
      <p:sp>
        <p:nvSpPr>
          <p:cNvPr id="112" name="rr"/>
          <p:cNvSpPr/>
          <p:nvPr/>
        </p:nvSpPr>
        <p:spPr>
          <a:xfrm>
            <a:off x="6812280" y="1480000"/>
            <a:ext cx="1947672" cy="90000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b"/>
          <p:cNvSpPr/>
          <p:nvPr/>
        </p:nvSpPr>
        <p:spPr>
          <a:xfrm>
            <a:off x="6812280" y="154000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3000" dirty="0"/>
          </a:p>
        </p:txBody>
      </p:sp>
      <p:sp>
        <p:nvSpPr>
          <p:cNvPr id="114" name="tb"/>
          <p:cNvSpPr/>
          <p:nvPr/>
        </p:nvSpPr>
        <p:spPr>
          <a:xfrm>
            <a:off x="6812280" y="20800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class</a:t>
            </a:r>
            <a:endParaRPr lang="en-US" sz="950" dirty="0"/>
          </a:p>
        </p:txBody>
      </p:sp>
      <p:sp>
        <p:nvSpPr>
          <p:cNvPr id="115" name="tb"/>
          <p:cNvSpPr/>
          <p:nvPr/>
        </p:nvSpPr>
        <p:spPr>
          <a:xfrm>
            <a:off x="502920" y="2560000"/>
            <a:ext cx="41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HELD CONSTANT ACROSS EVERY TAKE</a:t>
            </a:r>
            <a:endParaRPr lang="en-US" sz="1000" dirty="0"/>
          </a:p>
        </p:txBody>
      </p:sp>
      <p:sp>
        <p:nvSpPr>
          <p:cNvPr id="116" name="rr"/>
          <p:cNvSpPr/>
          <p:nvPr/>
        </p:nvSpPr>
        <p:spPr>
          <a:xfrm>
            <a:off x="502920" y="2920000"/>
            <a:ext cx="4180000" cy="420000"/>
          </a:xfrm>
          <a:prstGeom prst="roundRect">
            <a:avLst>
              <a:gd name="adj" fmla="val 12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b"/>
          <p:cNvSpPr/>
          <p:nvPr/>
        </p:nvSpPr>
        <p:spPr>
          <a:xfrm>
            <a:off x="702920" y="2920000"/>
            <a:ext cx="38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mic distance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microphone geometry</a:t>
            </a:r>
            <a:endParaRPr lang="en-US" sz="1150" dirty="0"/>
          </a:p>
        </p:txBody>
      </p:sp>
      <p:sp>
        <p:nvSpPr>
          <p:cNvPr id="118" name="rr"/>
          <p:cNvSpPr/>
          <p:nvPr/>
        </p:nvSpPr>
        <p:spPr>
          <a:xfrm>
            <a:off x="502920" y="3395000"/>
            <a:ext cx="4180000" cy="420000"/>
          </a:xfrm>
          <a:prstGeom prst="roundRect">
            <a:avLst>
              <a:gd name="adj" fmla="val 12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b"/>
          <p:cNvSpPr/>
          <p:nvPr/>
        </p:nvSpPr>
        <p:spPr>
          <a:xfrm>
            <a:off x="702920" y="3395000"/>
            <a:ext cx="38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room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minimised</a:t>
            </a:r>
            <a:endParaRPr lang="en-US" sz="1150" dirty="0"/>
          </a:p>
        </p:txBody>
      </p:sp>
      <p:sp>
        <p:nvSpPr>
          <p:cNvPr id="120" name="rr"/>
          <p:cNvSpPr/>
          <p:nvPr/>
        </p:nvSpPr>
        <p:spPr>
          <a:xfrm>
            <a:off x="502920" y="3870000"/>
            <a:ext cx="4180000" cy="420000"/>
          </a:xfrm>
          <a:prstGeom prst="roundRect">
            <a:avLst>
              <a:gd name="adj" fmla="val 12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b"/>
          <p:cNvSpPr/>
          <p:nvPr/>
        </p:nvSpPr>
        <p:spPr>
          <a:xfrm>
            <a:off x="702920" y="3870000"/>
            <a:ext cx="38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Empty-cup start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pour begins from empty</a:t>
            </a:r>
            <a:endParaRPr lang="en-US" sz="1150" dirty="0"/>
          </a:p>
        </p:txBody>
      </p:sp>
      <p:sp>
        <p:nvSpPr>
          <p:cNvPr id="122" name="rr"/>
          <p:cNvSpPr/>
          <p:nvPr/>
        </p:nvSpPr>
        <p:spPr>
          <a:xfrm>
            <a:off x="502920" y="4345000"/>
            <a:ext cx="4180000" cy="420000"/>
          </a:xfrm>
          <a:prstGeom prst="roundRect">
            <a:avLst>
              <a:gd name="adj" fmla="val 12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b"/>
          <p:cNvSpPr/>
          <p:nvPr/>
        </p:nvSpPr>
        <p:spPr>
          <a:xfrm>
            <a:off x="702920" y="4345000"/>
            <a:ext cx="38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only, uniform flow   </a:t>
            </a: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liquid, steady tap rate</a:t>
            </a:r>
            <a:endParaRPr lang="en-US" sz="1150" dirty="0"/>
          </a:p>
        </p:txBody>
      </p:sp>
      <p:sp>
        <p:nvSpPr>
          <p:cNvPr id="124" name="rr"/>
          <p:cNvSpPr/>
          <p:nvPr/>
        </p:nvSpPr>
        <p:spPr>
          <a:xfrm>
            <a:off x="4880000" y="2560000"/>
            <a:ext cx="3760000" cy="2280000"/>
          </a:xfrm>
          <a:prstGeom prst="roundRect">
            <a:avLst>
              <a:gd name="adj" fmla="val 22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b"/>
          <p:cNvSpPr/>
          <p:nvPr/>
        </p:nvSpPr>
        <p:spPr>
          <a:xfrm>
            <a:off x="5140000" y="2710000"/>
            <a:ext cx="32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&amp; COMPOSITION</a:t>
            </a:r>
            <a:endParaRPr lang="en-US" sz="1000" dirty="0"/>
          </a:p>
        </p:txBody>
      </p:sp>
      <p:sp>
        <p:nvSpPr>
          <p:cNvPr id="126" name="tb"/>
          <p:cNvSpPr/>
          <p:nvPr/>
        </p:nvSpPr>
        <p:spPr>
          <a:xfrm>
            <a:off x="5140000" y="3120000"/>
            <a:ext cx="1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Cup sizes</a:t>
            </a:r>
            <a:endParaRPr lang="en-US" sz="1050" dirty="0"/>
          </a:p>
        </p:txBody>
      </p:sp>
      <p:sp>
        <p:nvSpPr>
          <p:cNvPr id="127" name="tb"/>
          <p:cNvSpPr/>
          <p:nvPr/>
        </p:nvSpPr>
        <p:spPr>
          <a:xfrm>
            <a:off x="6380000" y="3120000"/>
            <a:ext cx="2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/ 350 / 400 mL</a:t>
            </a:r>
            <a:endParaRPr lang="en-US" sz="1100" dirty="0"/>
          </a:p>
        </p:txBody>
      </p:sp>
      <p:sp>
        <p:nvSpPr>
          <p:cNvPr id="128" name="tb"/>
          <p:cNvSpPr/>
          <p:nvPr/>
        </p:nvSpPr>
        <p:spPr>
          <a:xfrm>
            <a:off x="5140000" y="3460000"/>
            <a:ext cx="1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cup</a:t>
            </a:r>
            <a:endParaRPr lang="en-US" sz="1050" dirty="0"/>
          </a:p>
        </p:txBody>
      </p:sp>
      <p:sp>
        <p:nvSpPr>
          <p:cNvPr id="129" name="tb"/>
          <p:cNvSpPr/>
          <p:nvPr/>
        </p:nvSpPr>
        <p:spPr>
          <a:xfrm>
            <a:off x="6380000" y="3460000"/>
            <a:ext cx="2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recordings</a:t>
            </a:r>
            <a:endParaRPr lang="en-US" sz="1100" dirty="0"/>
          </a:p>
        </p:txBody>
      </p:sp>
      <p:sp>
        <p:nvSpPr>
          <p:cNvPr id="130" name="tb"/>
          <p:cNvSpPr/>
          <p:nvPr/>
        </p:nvSpPr>
        <p:spPr>
          <a:xfrm>
            <a:off x="5140000" y="3800000"/>
            <a:ext cx="1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31" name="tb"/>
          <p:cNvSpPr/>
          <p:nvPr/>
        </p:nvSpPr>
        <p:spPr>
          <a:xfrm>
            <a:off x="6380000" y="3800000"/>
            <a:ext cx="2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– 20 s</a:t>
            </a:r>
            <a:endParaRPr lang="en-US" sz="1100" dirty="0"/>
          </a:p>
        </p:txBody>
      </p:sp>
      <p:sp>
        <p:nvSpPr>
          <p:cNvPr id="132" name="tb"/>
          <p:cNvSpPr/>
          <p:nvPr/>
        </p:nvSpPr>
        <p:spPr>
          <a:xfrm>
            <a:off x="5140000" y="4140000"/>
            <a:ext cx="1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rate</a:t>
            </a:r>
            <a:endParaRPr lang="en-US" sz="1050" dirty="0"/>
          </a:p>
        </p:txBody>
      </p:sp>
      <p:sp>
        <p:nvSpPr>
          <p:cNvPr id="133" name="tb"/>
          <p:cNvSpPr/>
          <p:nvPr/>
        </p:nvSpPr>
        <p:spPr>
          <a:xfrm>
            <a:off x="6380000" y="4140000"/>
            <a:ext cx="2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64 kHz</a:t>
            </a:r>
            <a:endParaRPr lang="en-US" sz="1100" dirty="0"/>
          </a:p>
        </p:txBody>
      </p:sp>
      <p:sp>
        <p:nvSpPr>
          <p:cNvPr id="134" name="tb"/>
          <p:cNvSpPr/>
          <p:nvPr/>
        </p:nvSpPr>
        <p:spPr>
          <a:xfrm>
            <a:off x="5140000" y="4480000"/>
            <a:ext cx="1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endParaRPr lang="en-US" sz="1050" dirty="0"/>
          </a:p>
        </p:txBody>
      </p:sp>
      <p:sp>
        <p:nvSpPr>
          <p:cNvPr id="135" name="tb"/>
          <p:cNvSpPr/>
          <p:nvPr/>
        </p:nvSpPr>
        <p:spPr>
          <a:xfrm>
            <a:off x="6380000" y="4480000"/>
            <a:ext cx="2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even</a:t>
            </a:r>
            <a:endParaRPr lang="en-US" sz="1100" dirty="0"/>
          </a:p>
        </p:txBody>
      </p:sp>
      <p:sp>
        <p:nvSpPr>
          <p:cNvPr id="136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37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pipeline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3272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 features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71800" y="157276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46120" y="157276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76472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 split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10712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 80/20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715000" y="157276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989320" y="157276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7373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19672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53912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on train only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262432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331720" y="2715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33272" y="2734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67512" y="30998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/ wrapper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971800" y="262432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3246120" y="262432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278892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74920" y="2715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776472" y="2734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+ fit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410712" y="30998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grid-search CV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715000" y="262432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989320" y="2624328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912" y="278892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818120" y="2715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519672" y="2734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153912" y="30998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untouched test set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502920" y="37947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4023360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325880" y="3840480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 by construction
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feature selection and hyper-parameter tuning are all fitted inside the training fold. The held-out test set is never seen until the final evaluation — so the reported accuracy is honest.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DATA ANALYSIS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2900" dirty="0"/>
          </a:p>
        </p:txBody>
      </p:sp>
      <p:sp>
        <p:nvSpPr>
          <p:cNvPr id="103" name="rr"/>
          <p:cNvSpPr/>
          <p:nvPr/>
        </p:nvSpPr>
        <p:spPr>
          <a:xfrm>
            <a:off x="5029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F4B7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b"/>
          <p:cNvSpPr/>
          <p:nvPr/>
        </p:nvSpPr>
        <p:spPr>
          <a:xfrm>
            <a:off x="5029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0E1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00" dirty="0"/>
          </a:p>
        </p:txBody>
      </p:sp>
      <p:sp>
        <p:nvSpPr>
          <p:cNvPr id="105" name="rr"/>
          <p:cNvSpPr/>
          <p:nvPr/>
        </p:nvSpPr>
        <p:spPr>
          <a:xfrm>
            <a:off x="187928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b"/>
          <p:cNvSpPr/>
          <p:nvPr/>
        </p:nvSpPr>
        <p:spPr>
          <a:xfrm>
            <a:off x="187928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endParaRPr lang="en-US" sz="900" dirty="0"/>
          </a:p>
        </p:txBody>
      </p:sp>
      <p:sp>
        <p:nvSpPr>
          <p:cNvPr id="107" name="rr"/>
          <p:cNvSpPr/>
          <p:nvPr/>
        </p:nvSpPr>
        <p:spPr>
          <a:xfrm>
            <a:off x="325564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b"/>
          <p:cNvSpPr/>
          <p:nvPr/>
        </p:nvSpPr>
        <p:spPr>
          <a:xfrm>
            <a:off x="325564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900" dirty="0"/>
          </a:p>
        </p:txBody>
      </p:sp>
      <p:sp>
        <p:nvSpPr>
          <p:cNvPr id="109" name="rr"/>
          <p:cNvSpPr/>
          <p:nvPr/>
        </p:nvSpPr>
        <p:spPr>
          <a:xfrm>
            <a:off x="463200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b"/>
          <p:cNvSpPr/>
          <p:nvPr/>
        </p:nvSpPr>
        <p:spPr>
          <a:xfrm>
            <a:off x="463200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</p:txBody>
      </p:sp>
      <p:sp>
        <p:nvSpPr>
          <p:cNvPr id="111" name="rr"/>
          <p:cNvSpPr/>
          <p:nvPr/>
        </p:nvSpPr>
        <p:spPr>
          <a:xfrm>
            <a:off x="600836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b"/>
          <p:cNvSpPr/>
          <p:nvPr/>
        </p:nvSpPr>
        <p:spPr>
          <a:xfrm>
            <a:off x="600836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900" dirty="0"/>
          </a:p>
        </p:txBody>
      </p:sp>
      <p:sp>
        <p:nvSpPr>
          <p:cNvPr id="113" name="rr"/>
          <p:cNvSpPr/>
          <p:nvPr/>
        </p:nvSpPr>
        <p:spPr>
          <a:xfrm>
            <a:off x="73847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b"/>
          <p:cNvSpPr/>
          <p:nvPr/>
        </p:nvSpPr>
        <p:spPr>
          <a:xfrm>
            <a:off x="73847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00" dirty="0"/>
          </a:p>
        </p:txBody>
      </p:sp>
      <p:sp>
        <p:nvSpPr>
          <p:cNvPr id="115" name="tb"/>
          <p:cNvSpPr/>
          <p:nvPr/>
        </p:nvSpPr>
        <p:spPr>
          <a:xfrm>
            <a:off x="502920" y="2030000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recording becomes a fixed-length numerical fingerprint the model can learn from.</a:t>
            </a:r>
            <a:endParaRPr lang="en-US" sz="1400" dirty="0"/>
          </a:p>
        </p:txBody>
      </p:sp>
      <p:sp>
        <p:nvSpPr>
          <p:cNvPr id="116" name="rr"/>
          <p:cNvSpPr/>
          <p:nvPr/>
        </p:nvSpPr>
        <p:spPr>
          <a:xfrm>
            <a:off x="502920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ml"/>
          <p:cNvSpPr/>
          <p:nvPr/>
        </p:nvSpPr>
        <p:spPr>
          <a:xfrm>
            <a:off x="702920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clip is split into 5 equal time windows, capturing how the pour evolves as the cup fills.</a:t>
            </a:r>
          </a:p>
        </p:txBody>
      </p:sp>
      <p:sp>
        <p:nvSpPr>
          <p:cNvPr id="118" name="rr"/>
          <p:cNvSpPr/>
          <p:nvPr/>
        </p:nvSpPr>
        <p:spPr>
          <a:xfrm>
            <a:off x="3288973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ml"/>
          <p:cNvSpPr/>
          <p:nvPr/>
        </p:nvSpPr>
        <p:spPr>
          <a:xfrm>
            <a:off x="3488973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features / window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centroid, rolloff, bandwidth &amp; flatness, RMS energy, zero-crossing rate, 13 MFCCs, onset count, dominant frequency, and more.</a:t>
            </a:r>
          </a:p>
        </p:txBody>
      </p:sp>
      <p:sp>
        <p:nvSpPr>
          <p:cNvPr id="120" name="rr"/>
          <p:cNvSpPr/>
          <p:nvPr/>
        </p:nvSpPr>
        <p:spPr>
          <a:xfrm>
            <a:off x="6075026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ml"/>
          <p:cNvSpPr/>
          <p:nvPr/>
        </p:nvSpPr>
        <p:spPr>
          <a:xfrm>
            <a:off x="6275026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numbers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windows × 29 features, plus deltas between windows — one tidy row per recording.</a:t>
            </a:r>
          </a:p>
        </p:txBody>
      </p:sp>
      <p:sp>
        <p:nvSpPr>
          <p:cNvPr id="122" name="rr"/>
          <p:cNvSpPr/>
          <p:nvPr/>
        </p:nvSpPr>
        <p:spPr>
          <a:xfrm>
            <a:off x="502920" y="4080000"/>
            <a:ext cx="8138160" cy="600000"/>
          </a:xfrm>
          <a:prstGeom prst="roundRect">
            <a:avLst>
              <a:gd name="adj" fmla="val 10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b"/>
          <p:cNvSpPr/>
          <p:nvPr/>
        </p:nvSpPr>
        <p:spPr>
          <a:xfrm>
            <a:off x="762920" y="4080000"/>
            <a:ext cx="7618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clip to row: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 audio file is reduced to a single 145-number feature vector.</a:t>
            </a:r>
            <a:endParaRPr lang="en-US" sz="1200" dirty="0"/>
          </a:p>
        </p:txBody>
      </p:sp>
      <p:sp>
        <p:nvSpPr>
          <p:cNvPr id="124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25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waveform to 145 numbers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recording is split into 5 time windows so the model sees how the sound evolves through the pour. Every window is summarised by librosa into 29 features.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606040" cy="786384"/>
          </a:xfrm>
          <a:prstGeom prst="roundRect">
            <a:avLst>
              <a:gd name="adj" fmla="val 69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3408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" y="25968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· roll-off · bandwidth · flatness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3246120" y="2194560"/>
            <a:ext cx="2606040" cy="786384"/>
          </a:xfrm>
          <a:prstGeom prst="roundRect">
            <a:avLst>
              <a:gd name="adj" fmla="val 69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3408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10712" y="25968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 energy + delta (Δ)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5989320" y="2194560"/>
            <a:ext cx="2606040" cy="786384"/>
          </a:xfrm>
          <a:prstGeom prst="roundRect">
            <a:avLst>
              <a:gd name="adj" fmla="val 69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234086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53912" y="25968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zero-crossing · onsets · attack · sustain</a:t>
            </a:r>
            <a:endParaRPr lang="en-US" sz="880" dirty="0"/>
          </a:p>
        </p:txBody>
      </p:sp>
      <p:sp>
        <p:nvSpPr>
          <p:cNvPr id="18" name="Shape 13"/>
          <p:cNvSpPr/>
          <p:nvPr/>
        </p:nvSpPr>
        <p:spPr>
          <a:xfrm>
            <a:off x="502920" y="3108960"/>
            <a:ext cx="2606040" cy="786384"/>
          </a:xfrm>
          <a:prstGeom prst="roundRect">
            <a:avLst>
              <a:gd name="adj" fmla="val 69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25526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67512" y="35112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harmonic / percussive ratio</a:t>
            </a:r>
            <a:endParaRPr lang="en-US" sz="880" dirty="0"/>
          </a:p>
        </p:txBody>
      </p:sp>
      <p:sp>
        <p:nvSpPr>
          <p:cNvPr id="22" name="Shape 16"/>
          <p:cNvSpPr/>
          <p:nvPr/>
        </p:nvSpPr>
        <p:spPr>
          <a:xfrm>
            <a:off x="3246120" y="3108960"/>
            <a:ext cx="2606040" cy="786384"/>
          </a:xfrm>
          <a:prstGeom prst="roundRect">
            <a:avLst>
              <a:gd name="adj" fmla="val 69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325526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947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410712" y="35112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dominant frequency + magnitude</a:t>
            </a:r>
            <a:endParaRPr lang="en-US" sz="880" dirty="0"/>
          </a:p>
        </p:txBody>
      </p:sp>
      <p:sp>
        <p:nvSpPr>
          <p:cNvPr id="26" name="Shape 19"/>
          <p:cNvSpPr/>
          <p:nvPr/>
        </p:nvSpPr>
        <p:spPr>
          <a:xfrm>
            <a:off x="5989320" y="3108960"/>
            <a:ext cx="2606040" cy="786384"/>
          </a:xfrm>
          <a:prstGeom prst="roundRect">
            <a:avLst>
              <a:gd name="adj" fmla="val 69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912" y="325526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379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Cepstral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153912" y="35112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MFCC × 13</a:t>
            </a:r>
            <a:endParaRPr lang="en-US" sz="880" dirty="0"/>
          </a:p>
        </p:txBody>
      </p:sp>
      <p:sp>
        <p:nvSpPr>
          <p:cNvPr id="30" name="Shape 22"/>
          <p:cNvSpPr/>
          <p:nvPr/>
        </p:nvSpPr>
        <p:spPr>
          <a:xfrm>
            <a:off x="502920" y="41148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3"/>
          <p:cNvSpPr/>
          <p:nvPr/>
        </p:nvSpPr>
        <p:spPr>
          <a:xfrm>
            <a:off x="868680" y="41148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clip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2423160" y="4114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2834640" y="41148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windows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389120" y="4114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4800600" y="41148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feat / window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355080" y="4114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37" name="Text 29"/>
          <p:cNvSpPr/>
          <p:nvPr/>
        </p:nvSpPr>
        <p:spPr>
          <a:xfrm>
            <a:off x="6766560" y="41148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 features → 1 CSV row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DATA ANALYSIS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pitch climb</a:t>
            </a:r>
            <a:endParaRPr lang="en-US" sz="2900" dirty="0"/>
          </a:p>
        </p:txBody>
      </p:sp>
      <p:sp>
        <p:nvSpPr>
          <p:cNvPr id="103" name="tb"/>
          <p:cNvSpPr/>
          <p:nvPr/>
        </p:nvSpPr>
        <p:spPr>
          <a:xfrm>
            <a:off x="502920" y="1660000"/>
            <a:ext cx="29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SPECTROGRAM</a:t>
            </a:r>
            <a:endParaRPr lang="en-US" sz="1000" dirty="0"/>
          </a:p>
        </p:txBody>
      </p:sp>
      <p:sp>
        <p:nvSpPr>
          <p:cNvPr id="104" name="ml"/>
          <p:cNvSpPr/>
          <p:nvPr/>
        </p:nvSpPr>
        <p:spPr>
          <a:xfrm>
            <a:off x="502920" y="2120000"/>
            <a:ext cx="298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pour into equal time slices.</a:t>
            </a:r>
          </a:p>
        </p:txBody>
      </p:sp>
      <p:sp>
        <p:nvSpPr>
          <p:cNvPr id="105" name="ml"/>
          <p:cNvSpPr/>
          <p:nvPr/>
        </p:nvSpPr>
        <p:spPr>
          <a:xfrm>
            <a:off x="502920" y="2900000"/>
            <a:ext cx="298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pitch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frequency climbs through the pour (≈770 → 1550 Hz).</a:t>
            </a:r>
          </a:p>
        </p:txBody>
      </p:sp>
      <p:sp>
        <p:nvSpPr>
          <p:cNvPr id="106" name="ml"/>
          <p:cNvSpPr/>
          <p:nvPr/>
        </p:nvSpPr>
        <p:spPr>
          <a:xfrm>
            <a:off x="502920" y="3680000"/>
            <a:ext cx="298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labels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loudest pitch in each slice.</a:t>
            </a:r>
          </a:p>
        </p:txBody>
      </p:sp>
      <p:sp>
        <p:nvSpPr>
          <p:cNvPr id="107" name="rr"/>
          <p:cNvSpPr/>
          <p:nvPr/>
        </p:nvSpPr>
        <p:spPr>
          <a:xfrm>
            <a:off x="3650000" y="1600000"/>
            <a:ext cx="4990000" cy="28200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b"/>
          <p:cNvSpPr/>
          <p:nvPr/>
        </p:nvSpPr>
        <p:spPr>
          <a:xfrm>
            <a:off x="3650000" y="4460000"/>
            <a:ext cx="499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Spectrogram of one pour — dominant frequency marked per time window</a:t>
            </a:r>
            <a:endParaRPr lang="en-US" sz="850" dirty="0"/>
          </a:p>
        </p:txBody>
      </p:sp>
      <p:sp>
        <p:nvSpPr>
          <p:cNvPr id="110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11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21</a:t>
            </a:r>
            <a:endParaRPr lang="en-US" sz="800" dirty="0"/>
          </a:p>
        </p:txBody>
      </p:sp>
      <p:pic>
        <p:nvPicPr>
          <p:cNvPr id="108" name="Spectrogram" descr="img/spect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00" y="1805942"/>
            <a:ext cx="4690000" cy="24081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PRE-PROCESSING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 split</a:t>
            </a:r>
            <a:endParaRPr lang="en-US" sz="2900" dirty="0"/>
          </a:p>
        </p:txBody>
      </p:sp>
      <p:sp>
        <p:nvSpPr>
          <p:cNvPr id="103" name="rr"/>
          <p:cNvSpPr/>
          <p:nvPr/>
        </p:nvSpPr>
        <p:spPr>
          <a:xfrm>
            <a:off x="5029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b"/>
          <p:cNvSpPr/>
          <p:nvPr/>
        </p:nvSpPr>
        <p:spPr>
          <a:xfrm>
            <a:off x="5029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00" dirty="0"/>
          </a:p>
        </p:txBody>
      </p:sp>
      <p:sp>
        <p:nvSpPr>
          <p:cNvPr id="105" name="rr"/>
          <p:cNvSpPr/>
          <p:nvPr/>
        </p:nvSpPr>
        <p:spPr>
          <a:xfrm>
            <a:off x="187928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F4B7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b"/>
          <p:cNvSpPr/>
          <p:nvPr/>
        </p:nvSpPr>
        <p:spPr>
          <a:xfrm>
            <a:off x="187928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0E1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endParaRPr lang="en-US" sz="900" dirty="0"/>
          </a:p>
        </p:txBody>
      </p:sp>
      <p:sp>
        <p:nvSpPr>
          <p:cNvPr id="107" name="rr"/>
          <p:cNvSpPr/>
          <p:nvPr/>
        </p:nvSpPr>
        <p:spPr>
          <a:xfrm>
            <a:off x="325564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b"/>
          <p:cNvSpPr/>
          <p:nvPr/>
        </p:nvSpPr>
        <p:spPr>
          <a:xfrm>
            <a:off x="325564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900" dirty="0"/>
          </a:p>
        </p:txBody>
      </p:sp>
      <p:sp>
        <p:nvSpPr>
          <p:cNvPr id="109" name="rr"/>
          <p:cNvSpPr/>
          <p:nvPr/>
        </p:nvSpPr>
        <p:spPr>
          <a:xfrm>
            <a:off x="463200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b"/>
          <p:cNvSpPr/>
          <p:nvPr/>
        </p:nvSpPr>
        <p:spPr>
          <a:xfrm>
            <a:off x="463200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</p:txBody>
      </p:sp>
      <p:sp>
        <p:nvSpPr>
          <p:cNvPr id="111" name="rr"/>
          <p:cNvSpPr/>
          <p:nvPr/>
        </p:nvSpPr>
        <p:spPr>
          <a:xfrm>
            <a:off x="600836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b"/>
          <p:cNvSpPr/>
          <p:nvPr/>
        </p:nvSpPr>
        <p:spPr>
          <a:xfrm>
            <a:off x="600836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900" dirty="0"/>
          </a:p>
        </p:txBody>
      </p:sp>
      <p:sp>
        <p:nvSpPr>
          <p:cNvPr id="113" name="rr"/>
          <p:cNvSpPr/>
          <p:nvPr/>
        </p:nvSpPr>
        <p:spPr>
          <a:xfrm>
            <a:off x="73847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b"/>
          <p:cNvSpPr/>
          <p:nvPr/>
        </p:nvSpPr>
        <p:spPr>
          <a:xfrm>
            <a:off x="73847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00" dirty="0"/>
          </a:p>
        </p:txBody>
      </p:sp>
      <p:sp>
        <p:nvSpPr>
          <p:cNvPr id="115" name="tb"/>
          <p:cNvSpPr/>
          <p:nvPr/>
        </p:nvSpPr>
        <p:spPr>
          <a:xfrm>
            <a:off x="502920" y="2030000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arranged so the model trains and is tested on completely separate recordings.</a:t>
            </a:r>
            <a:endParaRPr lang="en-US" sz="1400" dirty="0"/>
          </a:p>
        </p:txBody>
      </p:sp>
      <p:sp>
        <p:nvSpPr>
          <p:cNvPr id="116" name="rr"/>
          <p:cNvSpPr/>
          <p:nvPr/>
        </p:nvSpPr>
        <p:spPr>
          <a:xfrm>
            <a:off x="502920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ml"/>
          <p:cNvSpPr/>
          <p:nvPr/>
        </p:nvSpPr>
        <p:spPr>
          <a:xfrm>
            <a:off x="702920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fill levels (0–20% … 80–100%) are mapped to numeric class labels.</a:t>
            </a:r>
          </a:p>
        </p:txBody>
      </p:sp>
      <p:sp>
        <p:nvSpPr>
          <p:cNvPr id="118" name="rr"/>
          <p:cNvSpPr/>
          <p:nvPr/>
        </p:nvSpPr>
        <p:spPr>
          <a:xfrm>
            <a:off x="3288973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ml"/>
          <p:cNvSpPr/>
          <p:nvPr/>
        </p:nvSpPr>
        <p:spPr>
          <a:xfrm>
            <a:off x="3488973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</a:t>
            </a:r>
            <a:r>
              <a:rPr lang="he-IL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he-IL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b="1" dirty="0">
              <a:solidFill>
                <a:srgbClr val="F4B7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train–test split stratified by class keeps every fill level in the same proportion in both sets.</a:t>
            </a:r>
          </a:p>
        </p:txBody>
      </p:sp>
      <p:sp>
        <p:nvSpPr>
          <p:cNvPr id="120" name="rr"/>
          <p:cNvSpPr/>
          <p:nvPr/>
        </p:nvSpPr>
        <p:spPr>
          <a:xfrm>
            <a:off x="6075026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ml"/>
          <p:cNvSpPr/>
          <p:nvPr/>
        </p:nvSpPr>
        <p:spPr>
          <a:xfrm>
            <a:off x="6275026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stratify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~45 recordings per class, stratification stops any split from under-representing a class.</a:t>
            </a:r>
          </a:p>
        </p:txBody>
      </p:sp>
      <p:sp>
        <p:nvSpPr>
          <p:cNvPr id="122" name="rr"/>
          <p:cNvSpPr/>
          <p:nvPr/>
        </p:nvSpPr>
        <p:spPr>
          <a:xfrm>
            <a:off x="502920" y="4080000"/>
            <a:ext cx="8138160" cy="600000"/>
          </a:xfrm>
          <a:prstGeom prst="roundRect">
            <a:avLst>
              <a:gd name="adj" fmla="val 10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b"/>
          <p:cNvSpPr/>
          <p:nvPr/>
        </p:nvSpPr>
        <p:spPr>
          <a:xfrm>
            <a:off x="762920" y="4080000"/>
            <a:ext cx="7618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recordings are set aside now and never used during training.</a:t>
            </a:r>
            <a:endParaRPr lang="en-US" sz="1200" dirty="0"/>
          </a:p>
        </p:txBody>
      </p:sp>
      <p:sp>
        <p:nvSpPr>
          <p:cNvPr id="124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25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PRE-PROCESSING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900" dirty="0"/>
          </a:p>
        </p:txBody>
      </p:sp>
      <p:sp>
        <p:nvSpPr>
          <p:cNvPr id="103" name="rr"/>
          <p:cNvSpPr/>
          <p:nvPr/>
        </p:nvSpPr>
        <p:spPr>
          <a:xfrm>
            <a:off x="5029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b"/>
          <p:cNvSpPr/>
          <p:nvPr/>
        </p:nvSpPr>
        <p:spPr>
          <a:xfrm>
            <a:off x="5029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00" dirty="0"/>
          </a:p>
        </p:txBody>
      </p:sp>
      <p:sp>
        <p:nvSpPr>
          <p:cNvPr id="105" name="rr"/>
          <p:cNvSpPr/>
          <p:nvPr/>
        </p:nvSpPr>
        <p:spPr>
          <a:xfrm>
            <a:off x="187928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b"/>
          <p:cNvSpPr/>
          <p:nvPr/>
        </p:nvSpPr>
        <p:spPr>
          <a:xfrm>
            <a:off x="187928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endParaRPr lang="en-US" sz="900" dirty="0"/>
          </a:p>
        </p:txBody>
      </p:sp>
      <p:sp>
        <p:nvSpPr>
          <p:cNvPr id="107" name="rr"/>
          <p:cNvSpPr/>
          <p:nvPr/>
        </p:nvSpPr>
        <p:spPr>
          <a:xfrm>
            <a:off x="325564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F4B7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b"/>
          <p:cNvSpPr/>
          <p:nvPr/>
        </p:nvSpPr>
        <p:spPr>
          <a:xfrm>
            <a:off x="325564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0E1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900" dirty="0"/>
          </a:p>
        </p:txBody>
      </p:sp>
      <p:sp>
        <p:nvSpPr>
          <p:cNvPr id="109" name="rr"/>
          <p:cNvSpPr/>
          <p:nvPr/>
        </p:nvSpPr>
        <p:spPr>
          <a:xfrm>
            <a:off x="463200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b"/>
          <p:cNvSpPr/>
          <p:nvPr/>
        </p:nvSpPr>
        <p:spPr>
          <a:xfrm>
            <a:off x="463200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</p:txBody>
      </p:sp>
      <p:sp>
        <p:nvSpPr>
          <p:cNvPr id="111" name="rr"/>
          <p:cNvSpPr/>
          <p:nvPr/>
        </p:nvSpPr>
        <p:spPr>
          <a:xfrm>
            <a:off x="600836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b"/>
          <p:cNvSpPr/>
          <p:nvPr/>
        </p:nvSpPr>
        <p:spPr>
          <a:xfrm>
            <a:off x="600836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900" dirty="0"/>
          </a:p>
        </p:txBody>
      </p:sp>
      <p:sp>
        <p:nvSpPr>
          <p:cNvPr id="113" name="rr"/>
          <p:cNvSpPr/>
          <p:nvPr/>
        </p:nvSpPr>
        <p:spPr>
          <a:xfrm>
            <a:off x="73847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b"/>
          <p:cNvSpPr/>
          <p:nvPr/>
        </p:nvSpPr>
        <p:spPr>
          <a:xfrm>
            <a:off x="73847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00" dirty="0"/>
          </a:p>
        </p:txBody>
      </p:sp>
      <p:sp>
        <p:nvSpPr>
          <p:cNvPr id="115" name="tb"/>
          <p:cNvSpPr/>
          <p:nvPr/>
        </p:nvSpPr>
        <p:spPr>
          <a:xfrm>
            <a:off x="502920" y="2030000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live on very different numeric ranges, so they are standardised before modelling.</a:t>
            </a:r>
            <a:endParaRPr lang="en-US" sz="1400" dirty="0"/>
          </a:p>
        </p:txBody>
      </p:sp>
      <p:sp>
        <p:nvSpPr>
          <p:cNvPr id="116" name="rr"/>
          <p:cNvSpPr/>
          <p:nvPr/>
        </p:nvSpPr>
        <p:spPr>
          <a:xfrm>
            <a:off x="502920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ml"/>
          <p:cNvSpPr/>
          <p:nvPr/>
        </p:nvSpPr>
        <p:spPr>
          <a:xfrm>
            <a:off x="702920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rescaled to zero mean and unit variance — a z-score.</a:t>
            </a:r>
          </a:p>
        </p:txBody>
      </p:sp>
      <p:sp>
        <p:nvSpPr>
          <p:cNvPr id="118" name="rr"/>
          <p:cNvSpPr/>
          <p:nvPr/>
        </p:nvSpPr>
        <p:spPr>
          <a:xfrm>
            <a:off x="3288973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ml"/>
          <p:cNvSpPr/>
          <p:nvPr/>
        </p:nvSpPr>
        <p:spPr>
          <a:xfrm>
            <a:off x="3488973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and variance are learned from the training set, then applied to the test set.</a:t>
            </a:r>
          </a:p>
        </p:txBody>
      </p:sp>
      <p:sp>
        <p:nvSpPr>
          <p:cNvPr id="120" name="rr"/>
          <p:cNvSpPr/>
          <p:nvPr/>
        </p:nvSpPr>
        <p:spPr>
          <a:xfrm>
            <a:off x="6075026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ml"/>
          <p:cNvSpPr/>
          <p:nvPr/>
        </p:nvSpPr>
        <p:spPr>
          <a:xfrm>
            <a:off x="6275026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training data alone keeps test information out of the model.</a:t>
            </a:r>
          </a:p>
        </p:txBody>
      </p:sp>
      <p:sp>
        <p:nvSpPr>
          <p:cNvPr id="122" name="rr"/>
          <p:cNvSpPr/>
          <p:nvPr/>
        </p:nvSpPr>
        <p:spPr>
          <a:xfrm>
            <a:off x="502920" y="4080000"/>
            <a:ext cx="8138160" cy="600000"/>
          </a:xfrm>
          <a:prstGeom prst="roundRect">
            <a:avLst>
              <a:gd name="adj" fmla="val 10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b"/>
          <p:cNvSpPr/>
          <p:nvPr/>
        </p:nvSpPr>
        <p:spPr>
          <a:xfrm>
            <a:off x="762920" y="4080000"/>
            <a:ext cx="7618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playing field: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scales let every feature contribute fairly, whatever its original units.</a:t>
            </a:r>
            <a:endParaRPr lang="en-US" sz="1200" dirty="0"/>
          </a:p>
        </p:txBody>
      </p:sp>
      <p:sp>
        <p:nvSpPr>
          <p:cNvPr id="124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25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actually mattered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0292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img/ano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17" y="1700784"/>
            <a:ext cx="4287005" cy="2587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471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ANOVA F-score per feature (higher = better class separation)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0" y="1554480"/>
            <a:ext cx="2926080" cy="2880360"/>
          </a:xfrm>
          <a:prstGeom prst="roundRect">
            <a:avLst>
              <a:gd name="adj" fmla="val 1905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5897880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RANKING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97880" y="21031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spectral_flatness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293 — turbulence of the pour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97880" y="26700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MFCC_5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898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271 — timbre of the sound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97880" y="3236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onset_count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97880" y="3465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≈ 150–193 — splash events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97880" y="3840480"/>
            <a:ext cx="2560320" cy="0"/>
          </a:xfrm>
          <a:prstGeom prst="line">
            <a:avLst/>
          </a:prstGeom>
          <a:noFill/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589788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winners are all physically tied to pouring — confirming the acoustic theory.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200" kern="0" spc="1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TRAINING</a:t>
            </a:r>
            <a:endParaRPr lang="en-US"/>
          </a:p>
        </p:txBody>
      </p:sp>
      <p:sp>
        <p:nvSpPr>
          <p:cNvPr id="3" name="t3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kern="0" spc="100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/>
          </a:p>
        </p:txBody>
      </p:sp>
      <p:sp>
        <p:nvSpPr>
          <p:cNvPr id="4" name="t4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features do we really need?</a:t>
            </a:r>
            <a:endParaRPr lang="en-US"/>
          </a:p>
        </p:txBody>
      </p:sp>
      <p:sp>
        <p:nvSpPr>
          <p:cNvPr id="5" name="c5"/>
          <p:cNvSpPr/>
          <p:nvPr/>
        </p:nvSpPr>
        <p:spPr>
          <a:xfrm>
            <a:off x="502920" y="155448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6"/>
          <p:cNvSpPr/>
          <p:nvPr/>
        </p:nvSpPr>
        <p:spPr>
          <a:xfrm>
            <a:off x="685800" y="1645920"/>
            <a:ext cx="300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/>
          </a:p>
        </p:txBody>
      </p:sp>
      <p:sp>
        <p:nvSpPr>
          <p:cNvPr id="7" name="f7"/>
          <p:cNvSpPr/>
          <p:nvPr/>
        </p:nvSpPr>
        <p:spPr>
          <a:xfrm>
            <a:off x="1041740" y="2000000"/>
            <a:ext cx="2900000" cy="2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pic8" descr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740" y="2071250"/>
            <a:ext cx="2710000" cy="2032500"/>
          </a:xfrm>
          <a:prstGeom prst="rect">
            <a:avLst/>
          </a:prstGeom>
        </p:spPr>
      </p:pic>
      <p:sp>
        <p:nvSpPr>
          <p:cNvPr id="10" name="c10"/>
          <p:cNvSpPr/>
          <p:nvPr/>
        </p:nvSpPr>
        <p:spPr>
          <a:xfrm>
            <a:off x="4663440" y="155448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11"/>
          <p:cNvSpPr/>
          <p:nvPr/>
        </p:nvSpPr>
        <p:spPr>
          <a:xfrm>
            <a:off x="4846320" y="1645920"/>
            <a:ext cx="300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/>
          </a:p>
        </p:txBody>
      </p:sp>
      <p:sp>
        <p:nvSpPr>
          <p:cNvPr id="12" name="f12"/>
          <p:cNvSpPr/>
          <p:nvPr/>
        </p:nvSpPr>
        <p:spPr>
          <a:xfrm>
            <a:off x="5202260" y="2000000"/>
            <a:ext cx="2900000" cy="2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3" name="pic13" descr="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260" y="2071250"/>
            <a:ext cx="2710000" cy="2032500"/>
          </a:xfrm>
          <a:prstGeom prst="rect">
            <a:avLst/>
          </a:prstGeom>
        </p:spPr>
      </p:pic>
      <p:sp>
        <p:nvSpPr>
          <p:cNvPr id="15" name="ib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16"/>
          <p:cNvSpPr/>
          <p:nvPr/>
        </p:nvSpPr>
        <p:spPr>
          <a:xfrm>
            <a:off x="73152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climbs steeply then flattens out by roughly 20 features — a small, well-chosen subset performs almost as well as all 145.</a:t>
            </a:r>
            <a:endParaRPr lang="en-US"/>
          </a:p>
        </p:txBody>
      </p:sp>
      <p:sp>
        <p:nvSpPr>
          <p:cNvPr id="17" name="t17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pick the right features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651760" cy="1960000"/>
          </a:xfrm>
          <a:prstGeom prst="roundRect">
            <a:avLst>
              <a:gd name="adj" fmla="val 2105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3317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MODEL-FREE, FAST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2376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</a:t>
            </a:r>
            <a:endParaRPr lang="en-US" sz="1150" dirty="0"/>
          </a:p>
          <a:p>
            <a:pPr marL="0" indent="0">
              <a:spcBef>
                <a:spcPts val="700"/>
              </a:spcBef>
              <a:buNone/>
            </a:pPr>
            <a:r>
              <a:rPr lang="en-US" sz="10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strength, drop the weakest.</a:t>
            </a:r>
          </a:p>
        </p:txBody>
      </p:sp>
      <p:sp>
        <p:nvSpPr>
          <p:cNvPr id="11" name="Shape 8"/>
          <p:cNvSpPr/>
          <p:nvPr/>
        </p:nvSpPr>
        <p:spPr>
          <a:xfrm>
            <a:off x="3246120" y="2148840"/>
            <a:ext cx="2651760" cy="1960000"/>
          </a:xfrm>
          <a:prstGeom prst="roundRect">
            <a:avLst>
              <a:gd name="adj" fmla="val 2105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3317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47288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MODEL-SCORED, COSTLY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465576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elimination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CV accuracy</a:t>
            </a:r>
            <a:endParaRPr lang="en-US" sz="1150" dirty="0"/>
          </a:p>
          <a:p>
            <a:pPr marL="0" indent="0">
              <a:spcBef>
                <a:spcPts val="700"/>
              </a:spcBef>
              <a:buNone/>
            </a:pPr>
            <a:r>
              <a:rPr lang="en-US" sz="10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by CV accuracy.</a:t>
            </a:r>
          </a:p>
        </p:txBody>
      </p:sp>
      <p:sp>
        <p:nvSpPr>
          <p:cNvPr id="16" name="Shape 12"/>
          <p:cNvSpPr/>
          <p:nvPr/>
        </p:nvSpPr>
        <p:spPr>
          <a:xfrm>
            <a:off x="5989320" y="2148840"/>
            <a:ext cx="2651760" cy="1960000"/>
          </a:xfrm>
          <a:prstGeom prst="roundRect">
            <a:avLst>
              <a:gd name="adj" fmla="val 2105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233172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190488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INTO TRAINING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208776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split 'Gain'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importance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Random-Forest importance</a:t>
            </a:r>
            <a:endParaRPr lang="en-US" sz="1150" dirty="0"/>
          </a:p>
          <a:p>
            <a:pPr marL="0" indent="0">
              <a:spcBef>
                <a:spcPts val="700"/>
              </a:spcBef>
              <a:buNone/>
            </a:pPr>
            <a:r>
              <a:rPr lang="en-US" sz="10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while the model trains.</a:t>
            </a:r>
          </a:p>
        </p:txBody>
      </p:sp>
      <p:sp>
        <p:nvSpPr>
          <p:cNvPr id="21" name="Text 16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</a:t>
            </a:r>
            <a:endParaRPr lang="en-US" sz="800" dirty="0"/>
          </a:p>
        </p:txBody>
      </p:sp>
      <p:sp>
        <p:nvSpPr>
          <p:cNvPr id="130" name="rr"/>
          <p:cNvSpPr/>
          <p:nvPr/>
        </p:nvSpPr>
        <p:spPr>
          <a:xfrm>
            <a:off x="502920" y="4200000"/>
            <a:ext cx="8138160" cy="540000"/>
          </a:xfrm>
          <a:prstGeom prst="roundRect">
            <a:avLst>
              <a:gd name="adj" fmla="val 10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b"/>
          <p:cNvSpPr/>
          <p:nvPr/>
        </p:nvSpPr>
        <p:spPr>
          <a:xfrm>
            <a:off x="762920" y="4200000"/>
            <a:ext cx="761816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stronger features cut overfitting and speed up training.</a:t>
            </a:r>
            <a:endParaRPr lang="en-US" sz="1200" dirty="0"/>
          </a:p>
        </p:txBody>
      </p:sp>
      <p:sp>
        <p:nvSpPr>
          <p:cNvPr id="140" name="rr"/>
          <p:cNvSpPr/>
          <p:nvPr/>
        </p:nvSpPr>
        <p:spPr>
          <a:xfrm>
            <a:off x="5029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b"/>
          <p:cNvSpPr/>
          <p:nvPr/>
        </p:nvSpPr>
        <p:spPr>
          <a:xfrm>
            <a:off x="5029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00" dirty="0"/>
          </a:p>
        </p:txBody>
      </p:sp>
      <p:sp>
        <p:nvSpPr>
          <p:cNvPr id="142" name="rr"/>
          <p:cNvSpPr/>
          <p:nvPr/>
        </p:nvSpPr>
        <p:spPr>
          <a:xfrm>
            <a:off x="187928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b"/>
          <p:cNvSpPr/>
          <p:nvPr/>
        </p:nvSpPr>
        <p:spPr>
          <a:xfrm>
            <a:off x="187928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endParaRPr lang="en-US" sz="900" dirty="0"/>
          </a:p>
        </p:txBody>
      </p:sp>
      <p:sp>
        <p:nvSpPr>
          <p:cNvPr id="144" name="rr"/>
          <p:cNvSpPr/>
          <p:nvPr/>
        </p:nvSpPr>
        <p:spPr>
          <a:xfrm>
            <a:off x="325564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b"/>
          <p:cNvSpPr/>
          <p:nvPr/>
        </p:nvSpPr>
        <p:spPr>
          <a:xfrm>
            <a:off x="325564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900" dirty="0"/>
          </a:p>
        </p:txBody>
      </p:sp>
      <p:sp>
        <p:nvSpPr>
          <p:cNvPr id="146" name="rr"/>
          <p:cNvSpPr/>
          <p:nvPr/>
        </p:nvSpPr>
        <p:spPr>
          <a:xfrm>
            <a:off x="463200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F4B7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b"/>
          <p:cNvSpPr/>
          <p:nvPr/>
        </p:nvSpPr>
        <p:spPr>
          <a:xfrm>
            <a:off x="463200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0E1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</p:txBody>
      </p:sp>
      <p:sp>
        <p:nvSpPr>
          <p:cNvPr id="148" name="rr"/>
          <p:cNvSpPr/>
          <p:nvPr/>
        </p:nvSpPr>
        <p:spPr>
          <a:xfrm>
            <a:off x="600836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b"/>
          <p:cNvSpPr/>
          <p:nvPr/>
        </p:nvSpPr>
        <p:spPr>
          <a:xfrm>
            <a:off x="600836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900" dirty="0"/>
          </a:p>
        </p:txBody>
      </p:sp>
      <p:sp>
        <p:nvSpPr>
          <p:cNvPr id="150" name="rr"/>
          <p:cNvSpPr/>
          <p:nvPr/>
        </p:nvSpPr>
        <p:spPr>
          <a:xfrm>
            <a:off x="73847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b"/>
          <p:cNvSpPr/>
          <p:nvPr/>
        </p:nvSpPr>
        <p:spPr>
          <a:xfrm>
            <a:off x="73847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TRAINING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+ fit</a:t>
            </a:r>
            <a:endParaRPr lang="en-US" sz="2900" dirty="0"/>
          </a:p>
        </p:txBody>
      </p:sp>
      <p:sp>
        <p:nvSpPr>
          <p:cNvPr id="103" name="rr"/>
          <p:cNvSpPr/>
          <p:nvPr/>
        </p:nvSpPr>
        <p:spPr>
          <a:xfrm>
            <a:off x="5029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b"/>
          <p:cNvSpPr/>
          <p:nvPr/>
        </p:nvSpPr>
        <p:spPr>
          <a:xfrm>
            <a:off x="5029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00" dirty="0"/>
          </a:p>
        </p:txBody>
      </p:sp>
      <p:sp>
        <p:nvSpPr>
          <p:cNvPr id="105" name="rr"/>
          <p:cNvSpPr/>
          <p:nvPr/>
        </p:nvSpPr>
        <p:spPr>
          <a:xfrm>
            <a:off x="187928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b"/>
          <p:cNvSpPr/>
          <p:nvPr/>
        </p:nvSpPr>
        <p:spPr>
          <a:xfrm>
            <a:off x="187928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endParaRPr lang="en-US" sz="900" dirty="0"/>
          </a:p>
        </p:txBody>
      </p:sp>
      <p:sp>
        <p:nvSpPr>
          <p:cNvPr id="107" name="rr"/>
          <p:cNvSpPr/>
          <p:nvPr/>
        </p:nvSpPr>
        <p:spPr>
          <a:xfrm>
            <a:off x="325564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b"/>
          <p:cNvSpPr/>
          <p:nvPr/>
        </p:nvSpPr>
        <p:spPr>
          <a:xfrm>
            <a:off x="325564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900" dirty="0"/>
          </a:p>
        </p:txBody>
      </p:sp>
      <p:sp>
        <p:nvSpPr>
          <p:cNvPr id="109" name="rr"/>
          <p:cNvSpPr/>
          <p:nvPr/>
        </p:nvSpPr>
        <p:spPr>
          <a:xfrm>
            <a:off x="463200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b"/>
          <p:cNvSpPr/>
          <p:nvPr/>
        </p:nvSpPr>
        <p:spPr>
          <a:xfrm>
            <a:off x="463200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</p:txBody>
      </p:sp>
      <p:sp>
        <p:nvSpPr>
          <p:cNvPr id="111" name="rr"/>
          <p:cNvSpPr/>
          <p:nvPr/>
        </p:nvSpPr>
        <p:spPr>
          <a:xfrm>
            <a:off x="600836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F4B7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b"/>
          <p:cNvSpPr/>
          <p:nvPr/>
        </p:nvSpPr>
        <p:spPr>
          <a:xfrm>
            <a:off x="600836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0E1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900" dirty="0"/>
          </a:p>
        </p:txBody>
      </p:sp>
      <p:sp>
        <p:nvSpPr>
          <p:cNvPr id="113" name="rr"/>
          <p:cNvSpPr/>
          <p:nvPr/>
        </p:nvSpPr>
        <p:spPr>
          <a:xfrm>
            <a:off x="73847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b"/>
          <p:cNvSpPr/>
          <p:nvPr/>
        </p:nvSpPr>
        <p:spPr>
          <a:xfrm>
            <a:off x="73847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00" dirty="0"/>
          </a:p>
        </p:txBody>
      </p:sp>
      <p:sp>
        <p:nvSpPr>
          <p:cNvPr id="115" name="tb"/>
          <p:cNvSpPr/>
          <p:nvPr/>
        </p:nvSpPr>
        <p:spPr>
          <a:xfrm>
            <a:off x="502920" y="2030000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model's hyper-parameters are searched systematically, then the model is trained.</a:t>
            </a:r>
            <a:endParaRPr lang="en-US" sz="1400" dirty="0"/>
          </a:p>
        </p:txBody>
      </p:sp>
      <p:sp>
        <p:nvSpPr>
          <p:cNvPr id="116" name="rr"/>
          <p:cNvSpPr/>
          <p:nvPr/>
        </p:nvSpPr>
        <p:spPr>
          <a:xfrm>
            <a:off x="502920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ml"/>
          <p:cNvSpPr/>
          <p:nvPr/>
        </p:nvSpPr>
        <p:spPr>
          <a:xfrm>
            <a:off x="702920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search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Hyper-parameter combinations are sampled at random from defined ranges — broad coverage at a fraction of a grid’s cost.</a:t>
            </a:r>
          </a:p>
        </p:txBody>
      </p:sp>
      <p:sp>
        <p:nvSpPr>
          <p:cNvPr id="118" name="rr"/>
          <p:cNvSpPr/>
          <p:nvPr/>
        </p:nvSpPr>
        <p:spPr>
          <a:xfrm>
            <a:off x="3288973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ml"/>
          <p:cNvSpPr/>
          <p:nvPr/>
        </p:nvSpPr>
        <p:spPr>
          <a:xfrm>
            <a:off x="3488973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combination is scored with k-fold CV on the training data only.</a:t>
            </a:r>
          </a:p>
        </p:txBody>
      </p:sp>
      <p:sp>
        <p:nvSpPr>
          <p:cNvPr id="120" name="rr"/>
          <p:cNvSpPr/>
          <p:nvPr/>
        </p:nvSpPr>
        <p:spPr>
          <a:xfrm>
            <a:off x="6075026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ml"/>
          <p:cNvSpPr/>
          <p:nvPr/>
        </p:nvSpPr>
        <p:spPr>
          <a:xfrm>
            <a:off x="6275026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fit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best-scoring configuration is refit on the full training set.</a:t>
            </a:r>
          </a:p>
        </p:txBody>
      </p:sp>
      <p:sp>
        <p:nvSpPr>
          <p:cNvPr id="122" name="rr"/>
          <p:cNvSpPr/>
          <p:nvPr/>
        </p:nvSpPr>
        <p:spPr>
          <a:xfrm>
            <a:off x="502920" y="4080000"/>
            <a:ext cx="8138160" cy="600000"/>
          </a:xfrm>
          <a:prstGeom prst="roundRect">
            <a:avLst>
              <a:gd name="adj" fmla="val 10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b"/>
          <p:cNvSpPr/>
          <p:nvPr/>
        </p:nvSpPr>
        <p:spPr>
          <a:xfrm>
            <a:off x="762920" y="4080000"/>
            <a:ext cx="7618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fold: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tuning happens on training data — the test set is never touched.</a:t>
            </a:r>
            <a:endParaRPr lang="en-US" sz="1200" dirty="0"/>
          </a:p>
        </p:txBody>
      </p:sp>
      <p:sp>
        <p:nvSpPr>
          <p:cNvPr id="124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25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TRAINING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2900" dirty="0"/>
          </a:p>
        </p:txBody>
      </p:sp>
      <p:sp>
        <p:nvSpPr>
          <p:cNvPr id="103" name="rr"/>
          <p:cNvSpPr/>
          <p:nvPr/>
        </p:nvSpPr>
        <p:spPr>
          <a:xfrm>
            <a:off x="5029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b"/>
          <p:cNvSpPr/>
          <p:nvPr/>
        </p:nvSpPr>
        <p:spPr>
          <a:xfrm>
            <a:off x="5029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00" dirty="0"/>
          </a:p>
        </p:txBody>
      </p:sp>
      <p:sp>
        <p:nvSpPr>
          <p:cNvPr id="105" name="rr"/>
          <p:cNvSpPr/>
          <p:nvPr/>
        </p:nvSpPr>
        <p:spPr>
          <a:xfrm>
            <a:off x="187928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b"/>
          <p:cNvSpPr/>
          <p:nvPr/>
        </p:nvSpPr>
        <p:spPr>
          <a:xfrm>
            <a:off x="187928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endParaRPr lang="en-US" sz="900" dirty="0"/>
          </a:p>
        </p:txBody>
      </p:sp>
      <p:sp>
        <p:nvSpPr>
          <p:cNvPr id="107" name="rr"/>
          <p:cNvSpPr/>
          <p:nvPr/>
        </p:nvSpPr>
        <p:spPr>
          <a:xfrm>
            <a:off x="325564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b"/>
          <p:cNvSpPr/>
          <p:nvPr/>
        </p:nvSpPr>
        <p:spPr>
          <a:xfrm>
            <a:off x="325564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900" dirty="0"/>
          </a:p>
        </p:txBody>
      </p:sp>
      <p:sp>
        <p:nvSpPr>
          <p:cNvPr id="109" name="rr"/>
          <p:cNvSpPr/>
          <p:nvPr/>
        </p:nvSpPr>
        <p:spPr>
          <a:xfrm>
            <a:off x="463200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b"/>
          <p:cNvSpPr/>
          <p:nvPr/>
        </p:nvSpPr>
        <p:spPr>
          <a:xfrm>
            <a:off x="463200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</p:txBody>
      </p:sp>
      <p:sp>
        <p:nvSpPr>
          <p:cNvPr id="111" name="rr"/>
          <p:cNvSpPr/>
          <p:nvPr/>
        </p:nvSpPr>
        <p:spPr>
          <a:xfrm>
            <a:off x="600836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b"/>
          <p:cNvSpPr/>
          <p:nvPr/>
        </p:nvSpPr>
        <p:spPr>
          <a:xfrm>
            <a:off x="600836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900" dirty="0"/>
          </a:p>
        </p:txBody>
      </p:sp>
      <p:sp>
        <p:nvSpPr>
          <p:cNvPr id="113" name="rr"/>
          <p:cNvSpPr/>
          <p:nvPr/>
        </p:nvSpPr>
        <p:spPr>
          <a:xfrm>
            <a:off x="7384720" y="1520000"/>
            <a:ext cx="1256360" cy="360000"/>
          </a:xfrm>
          <a:prstGeom prst="roundRect">
            <a:avLst>
              <a:gd name="adj" fmla="val 26000"/>
            </a:avLst>
          </a:prstGeom>
          <a:solidFill>
            <a:srgbClr val="F4B7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b"/>
          <p:cNvSpPr/>
          <p:nvPr/>
        </p:nvSpPr>
        <p:spPr>
          <a:xfrm>
            <a:off x="7384720" y="1520000"/>
            <a:ext cx="1256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0E1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900" dirty="0"/>
          </a:p>
        </p:txBody>
      </p:sp>
      <p:sp>
        <p:nvSpPr>
          <p:cNvPr id="115" name="tb"/>
          <p:cNvSpPr/>
          <p:nvPr/>
        </p:nvSpPr>
        <p:spPr>
          <a:xfrm>
            <a:off x="502920" y="2030000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measured once, on recordings the model has never seen.</a:t>
            </a:r>
            <a:endParaRPr lang="en-US" sz="1400" dirty="0"/>
          </a:p>
        </p:txBody>
      </p:sp>
      <p:sp>
        <p:nvSpPr>
          <p:cNvPr id="116" name="rr"/>
          <p:cNvSpPr/>
          <p:nvPr/>
        </p:nvSpPr>
        <p:spPr>
          <a:xfrm>
            <a:off x="502920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ml"/>
          <p:cNvSpPr/>
          <p:nvPr/>
        </p:nvSpPr>
        <p:spPr>
          <a:xfrm>
            <a:off x="702920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</a:t>
            </a:r>
            <a:r>
              <a:rPr lang="he-IL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reserved at the split is scored a single time.</a:t>
            </a:r>
          </a:p>
        </p:txBody>
      </p:sp>
      <p:sp>
        <p:nvSpPr>
          <p:cNvPr id="118" name="rr"/>
          <p:cNvSpPr/>
          <p:nvPr/>
        </p:nvSpPr>
        <p:spPr>
          <a:xfrm>
            <a:off x="3288973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ml"/>
          <p:cNvSpPr/>
          <p:nvPr/>
        </p:nvSpPr>
        <p:spPr>
          <a:xfrm>
            <a:off x="3488973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macro-F1, precision and recall, plus a confusion matrix per fill level.</a:t>
            </a:r>
          </a:p>
        </p:txBody>
      </p:sp>
      <p:sp>
        <p:nvSpPr>
          <p:cNvPr id="120" name="rr"/>
          <p:cNvSpPr/>
          <p:nvPr/>
        </p:nvSpPr>
        <p:spPr>
          <a:xfrm>
            <a:off x="6075026" y="2500000"/>
            <a:ext cx="2566053" cy="1430000"/>
          </a:xfrm>
          <a:prstGeom prst="roundRect">
            <a:avLst>
              <a:gd name="adj" fmla="val 7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ml"/>
          <p:cNvSpPr/>
          <p:nvPr/>
        </p:nvSpPr>
        <p:spPr>
          <a:xfrm>
            <a:off x="6275026" y="2700000"/>
            <a:ext cx="2166053" cy="1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check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cross-checked against the independent flow-rate estimate.</a:t>
            </a:r>
          </a:p>
        </p:txBody>
      </p:sp>
      <p:sp>
        <p:nvSpPr>
          <p:cNvPr id="122" name="rr"/>
          <p:cNvSpPr/>
          <p:nvPr/>
        </p:nvSpPr>
        <p:spPr>
          <a:xfrm>
            <a:off x="502920" y="4080000"/>
            <a:ext cx="8138160" cy="600000"/>
          </a:xfrm>
          <a:prstGeom prst="roundRect">
            <a:avLst>
              <a:gd name="adj" fmla="val 10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b"/>
          <p:cNvSpPr/>
          <p:nvPr/>
        </p:nvSpPr>
        <p:spPr>
          <a:xfrm>
            <a:off x="762920" y="4080000"/>
            <a:ext cx="7618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result: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measurement on unseen data is what makes the reported accuracy trustworthy.</a:t>
            </a:r>
            <a:endParaRPr lang="en-US" sz="1200" dirty="0"/>
          </a:p>
        </p:txBody>
      </p:sp>
      <p:sp>
        <p:nvSpPr>
          <p:cNvPr id="124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25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tree models, one decision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737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16152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BOOSTING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2376" y="243230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added sequentially, each correcting the last; regularised to resist overfitting.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572768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1737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376672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BAGGING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882896" y="243230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de-correlated trees vote; averaging cuts variance and is robust out of the box.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3520440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216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5204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 </a:t>
            </a: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average the two models' class probabilities (0.4 / 0.6) and take the most likely fill class.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" y="4389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trees? Tabular features, a small dataset, and free, interpretable feature-importance scores.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performance honestly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3703320" cy="233172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7680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6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150000"/>
            <a:ext cx="3340000" cy="1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set is split into 4 equal folds, each holding the same class balance as the full dataset.</a:t>
            </a:r>
          </a:p>
          <a:p>
            <a:pPr marL="155575" indent="-155575">
              <a:spcBef>
                <a:spcPts val="500"/>
              </a:spcBef>
              <a:buFont typeface="Arial"/>
              <a:buChar char="•"/>
            </a:pPr>
            <a:r>
              <a:rPr lang="en-US" sz="102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3 folds, validate on the 4th — rotating until every fold has been held out exactly once.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lang="en-US" sz="102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is scored just once, always on data the model never saw during training.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lang="en-US" sz="102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classes in each fold stops a lucky split or a rare class from skewing the result.</a:t>
            </a:r>
          </a:p>
        </p:txBody>
      </p:sp>
      <p:sp>
        <p:nvSpPr>
          <p:cNvPr id="17" name="Shape 12"/>
          <p:cNvSpPr/>
          <p:nvPr/>
        </p:nvSpPr>
        <p:spPr>
          <a:xfrm>
            <a:off x="4434840" y="1627632"/>
            <a:ext cx="420624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3"/>
          <p:cNvSpPr/>
          <p:nvPr/>
        </p:nvSpPr>
        <p:spPr>
          <a:xfrm>
            <a:off x="4434840" y="3995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4-fold CV: mean score (left) · per-fold accuracy (right)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434840" y="4224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≈ 98 % mean across accuracy, F1, precision and recall — consistently ahead of XGBoost.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</a:t>
            </a:r>
            <a:endParaRPr lang="en-US" sz="800" dirty="0"/>
          </a:p>
        </p:txBody>
      </p:sp>
      <p:pic>
        <p:nvPicPr>
          <p:cNvPr id="26" name="תמונה 25">
            <a:extLst>
              <a:ext uri="{FF2B5EF4-FFF2-40B4-BE49-F238E27FC236}">
                <a16:creationId xmlns:a16="http://schemas.microsoft.com/office/drawing/2014/main" id="{CEA7DB58-0B21-00F3-38D2-C0B226B47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2157" y="2022029"/>
            <a:ext cx="4011605" cy="15429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 the held-out test set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331720" y="16459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≈98.25%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98448" y="2011680"/>
            <a:ext cx="2386584" cy="1863537"/>
          </a:xfrm>
          <a:prstGeom prst="rect">
            <a:avLst/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4846320" y="1645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92240" y="16459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≈98.25%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58968" y="2011680"/>
            <a:ext cx="2386584" cy="1830442"/>
          </a:xfrm>
          <a:prstGeom prst="rect">
            <a:avLst/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1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2"/>
          <p:cNvSpPr/>
          <p:nvPr/>
        </p:nvSpPr>
        <p:spPr>
          <a:xfrm>
            <a:off x="73152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misclassification lands in an adjacent fill band — never a near-empty vs. near-full mix-up.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</a:t>
            </a:r>
            <a:endParaRPr lang="en-US" sz="800" dirty="0"/>
          </a:p>
        </p:txBody>
      </p:sp>
      <p:pic>
        <p:nvPicPr>
          <p:cNvPr id="26" name="תמונה 25">
            <a:extLst>
              <a:ext uri="{FF2B5EF4-FFF2-40B4-BE49-F238E27FC236}">
                <a16:creationId xmlns:a16="http://schemas.microsoft.com/office/drawing/2014/main" id="{94865A3B-CAEB-33F9-ADEE-A119A34E3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713" y="2260928"/>
            <a:ext cx="1820053" cy="1365040"/>
          </a:xfrm>
          <a:prstGeom prst="rect">
            <a:avLst/>
          </a:prstGeom>
        </p:spPr>
      </p:pic>
      <p:pic>
        <p:nvPicPr>
          <p:cNvPr id="28" name="תמונה 27">
            <a:extLst>
              <a:ext uri="{FF2B5EF4-FFF2-40B4-BE49-F238E27FC236}">
                <a16:creationId xmlns:a16="http://schemas.microsoft.com/office/drawing/2014/main" id="{ECF626D0-72B6-8DE7-3899-16571CC28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573" y="2110385"/>
            <a:ext cx="2177374" cy="16330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r>
              <a:rPr lang="en-US" sz="1200" kern="0" spc="1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RESULTS</a:t>
            </a:r>
            <a:endParaRPr lang="en-US"/>
          </a:p>
        </p:txBody>
      </p:sp>
      <p:sp>
        <p:nvSpPr>
          <p:cNvPr id="3" name="t3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kern="0" spc="100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/>
          </a:p>
        </p:txBody>
      </p:sp>
      <p:sp>
        <p:nvSpPr>
          <p:cNvPr id="4" name="t4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performance</a:t>
            </a:r>
            <a:endParaRPr lang="en-US"/>
          </a:p>
        </p:txBody>
      </p:sp>
      <p:sp>
        <p:nvSpPr>
          <p:cNvPr id="5" name="c5"/>
          <p:cNvSpPr/>
          <p:nvPr/>
        </p:nvSpPr>
        <p:spPr>
          <a:xfrm>
            <a:off x="502920" y="155448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6"/>
          <p:cNvSpPr/>
          <p:nvPr/>
        </p:nvSpPr>
        <p:spPr>
          <a:xfrm>
            <a:off x="685800" y="1645920"/>
            <a:ext cx="220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/>
          </a:p>
        </p:txBody>
      </p:sp>
      <p:sp>
        <p:nvSpPr>
          <p:cNvPr id="7" name="t7"/>
          <p:cNvSpPr/>
          <p:nvPr/>
        </p:nvSpPr>
        <p:spPr>
          <a:xfrm>
            <a:off x="2715600" y="1645920"/>
            <a:ext cx="15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≈98.25%</a:t>
            </a:r>
            <a:endParaRPr lang="en-US"/>
          </a:p>
        </p:txBody>
      </p:sp>
      <p:sp>
        <p:nvSpPr>
          <p:cNvPr id="8" name="f8"/>
          <p:cNvSpPr/>
          <p:nvPr/>
        </p:nvSpPr>
        <p:spPr>
          <a:xfrm>
            <a:off x="1041740" y="2010000"/>
            <a:ext cx="2900000" cy="21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pic9" descr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740" y="2079000"/>
            <a:ext cx="2710000" cy="2032500"/>
          </a:xfrm>
          <a:prstGeom prst="rect">
            <a:avLst/>
          </a:prstGeom>
        </p:spPr>
      </p:pic>
      <p:sp>
        <p:nvSpPr>
          <p:cNvPr id="10" name="c10"/>
          <p:cNvSpPr/>
          <p:nvPr/>
        </p:nvSpPr>
        <p:spPr>
          <a:xfrm>
            <a:off x="4663440" y="155448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11"/>
          <p:cNvSpPr/>
          <p:nvPr/>
        </p:nvSpPr>
        <p:spPr>
          <a:xfrm>
            <a:off x="4846320" y="1645920"/>
            <a:ext cx="300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/>
          </a:p>
        </p:txBody>
      </p:sp>
      <p:sp>
        <p:nvSpPr>
          <p:cNvPr id="13" name="report"/>
          <p:cNvSpPr/>
          <p:nvPr/>
        </p:nvSpPr>
        <p:spPr>
          <a:xfrm>
            <a:off x="4846320" y="2070000"/>
            <a:ext cx="3650000" cy="2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prec    rec     f1     n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C7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20           1.00   1.00   1.00    12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C7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40           1.00   1.00   1.00    11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C7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60           1.00   0.91   0.95    11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C7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80           0.92   1.00   0.96    12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C7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100          1.00   1.00   1.00    11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C7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b="1" kern="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                  0.98    57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avg    0.98   0.98   0.98    57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kern="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    0.98   0.98   0.98    57</a:t>
            </a:r>
          </a:p>
        </p:txBody>
      </p:sp>
      <p:sp>
        <p:nvSpPr>
          <p:cNvPr id="15" name="ib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16"/>
          <p:cNvSpPr/>
          <p:nvPr/>
        </p:nvSpPr>
        <p:spPr>
          <a:xfrm>
            <a:off x="73152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 </a:t>
            </a: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scores at least 0.95 F1; the only errors fall between neighbouring fill levels (60 ↔ 80).</a:t>
            </a:r>
            <a:endParaRPr lang="en-US"/>
          </a:p>
        </p:txBody>
      </p:sp>
      <p:sp>
        <p:nvSpPr>
          <p:cNvPr id="17" name="t17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physical check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rate  =  (fill % × cup capacity) / duration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predicted fill into a physical flow rate gives a second, independent check — and predicted matches true almost exactly.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49424"/>
            <a:ext cx="55321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502920" y="45720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flow rate by cup (left) · per-sample predicted vs. true on y = x (right)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</a:t>
            </a:r>
            <a:endParaRPr lang="en-US" sz="800" dirty="0"/>
          </a:p>
        </p:txBody>
      </p:sp>
      <p:pic>
        <p:nvPicPr>
          <p:cNvPr id="22" name="תמונה 21">
            <a:extLst>
              <a:ext uri="{FF2B5EF4-FFF2-40B4-BE49-F238E27FC236}">
                <a16:creationId xmlns:a16="http://schemas.microsoft.com/office/drawing/2014/main" id="{44DF60EF-044A-8DB4-D7A1-7523BB58B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12" y="2384734"/>
            <a:ext cx="5252936" cy="2015379"/>
          </a:xfrm>
          <a:prstGeom prst="rect">
            <a:avLst/>
          </a:prstGeom>
        </p:spPr>
      </p:pic>
      <p:sp>
        <p:nvSpPr>
          <p:cNvPr id="40" name="accPanel"/>
          <p:cNvSpPr/>
          <p:nvPr/>
        </p:nvSpPr>
        <p:spPr>
          <a:xfrm>
            <a:off x="6217920" y="2249424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41"/>
          <p:cNvSpPr/>
          <p:nvPr/>
        </p:nvSpPr>
        <p:spPr>
          <a:xfrm>
            <a:off x="6400000" y="2330000"/>
            <a:ext cx="21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spc="12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BY CLASS</a:t>
            </a:r>
          </a:p>
        </p:txBody>
      </p:sp>
      <p:sp>
        <p:nvSpPr>
          <p:cNvPr id="42" name="t42"/>
          <p:cNvSpPr/>
          <p:nvPr/>
        </p:nvSpPr>
        <p:spPr>
          <a:xfrm>
            <a:off x="6420000" y="2680000"/>
            <a:ext cx="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</a:p>
        </p:txBody>
      </p:sp>
      <p:sp>
        <p:nvSpPr>
          <p:cNvPr id="43" name="t43"/>
          <p:cNvSpPr/>
          <p:nvPr/>
        </p:nvSpPr>
        <p:spPr>
          <a:xfrm>
            <a:off x="7260000" y="2680000"/>
            <a:ext cx="11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98.12 %</a:t>
            </a:r>
          </a:p>
        </p:txBody>
      </p:sp>
      <p:sp>
        <p:nvSpPr>
          <p:cNvPr id="44" name="t44"/>
          <p:cNvSpPr/>
          <p:nvPr/>
        </p:nvSpPr>
        <p:spPr>
          <a:xfrm>
            <a:off x="6420000" y="2930000"/>
            <a:ext cx="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</a:p>
        </p:txBody>
      </p:sp>
      <p:sp>
        <p:nvSpPr>
          <p:cNvPr id="45" name="t45"/>
          <p:cNvSpPr/>
          <p:nvPr/>
        </p:nvSpPr>
        <p:spPr>
          <a:xfrm>
            <a:off x="7260000" y="2930000"/>
            <a:ext cx="11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98.26 %</a:t>
            </a:r>
          </a:p>
        </p:txBody>
      </p:sp>
      <p:sp>
        <p:nvSpPr>
          <p:cNvPr id="46" name="t46"/>
          <p:cNvSpPr/>
          <p:nvPr/>
        </p:nvSpPr>
        <p:spPr>
          <a:xfrm>
            <a:off x="6420000" y="3180000"/>
            <a:ext cx="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</a:p>
        </p:txBody>
      </p:sp>
      <p:sp>
        <p:nvSpPr>
          <p:cNvPr id="47" name="t47"/>
          <p:cNvSpPr/>
          <p:nvPr/>
        </p:nvSpPr>
        <p:spPr>
          <a:xfrm>
            <a:off x="7260000" y="3180000"/>
            <a:ext cx="11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97.72 %</a:t>
            </a:r>
          </a:p>
        </p:txBody>
      </p:sp>
      <p:sp>
        <p:nvSpPr>
          <p:cNvPr id="48" name="t48"/>
          <p:cNvSpPr/>
          <p:nvPr/>
        </p:nvSpPr>
        <p:spPr>
          <a:xfrm>
            <a:off x="6420000" y="3430000"/>
            <a:ext cx="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</a:p>
        </p:txBody>
      </p:sp>
      <p:sp>
        <p:nvSpPr>
          <p:cNvPr id="49" name="t49"/>
          <p:cNvSpPr/>
          <p:nvPr/>
        </p:nvSpPr>
        <p:spPr>
          <a:xfrm>
            <a:off x="7260000" y="3430000"/>
            <a:ext cx="11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94.34 %</a:t>
            </a:r>
          </a:p>
        </p:txBody>
      </p:sp>
      <p:sp>
        <p:nvSpPr>
          <p:cNvPr id="50" name="t50"/>
          <p:cNvSpPr/>
          <p:nvPr/>
        </p:nvSpPr>
        <p:spPr>
          <a:xfrm>
            <a:off x="6420000" y="3680000"/>
            <a:ext cx="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</a:p>
        </p:txBody>
      </p:sp>
      <p:sp>
        <p:nvSpPr>
          <p:cNvPr id="51" name="t51"/>
          <p:cNvSpPr/>
          <p:nvPr/>
        </p:nvSpPr>
        <p:spPr>
          <a:xfrm>
            <a:off x="7260000" y="3680000"/>
            <a:ext cx="11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98.80 %</a:t>
            </a:r>
          </a:p>
        </p:txBody>
      </p:sp>
      <p:sp>
        <p:nvSpPr>
          <p:cNvPr id="60" name="sep"/>
          <p:cNvSpPr/>
          <p:nvPr/>
        </p:nvSpPr>
        <p:spPr>
          <a:xfrm>
            <a:off x="6420000" y="3995000"/>
            <a:ext cx="2020000" cy="19050"/>
          </a:xfrm>
          <a:prstGeom prst="rect">
            <a:avLst/>
          </a:prstGeom>
          <a:solidFill>
            <a:srgbClr val="2C37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1" name="t61"/>
          <p:cNvSpPr/>
          <p:nvPr/>
        </p:nvSpPr>
        <p:spPr>
          <a:xfrm>
            <a:off x="6420000" y="4080000"/>
            <a:ext cx="13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</a:p>
        </p:txBody>
      </p:sp>
      <p:sp>
        <p:nvSpPr>
          <p:cNvPr id="62" name="t62"/>
          <p:cNvSpPr/>
          <p:nvPr/>
        </p:nvSpPr>
        <p:spPr>
          <a:xfrm>
            <a:off x="7040000" y="4045000"/>
            <a:ext cx="14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97.45 %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flo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er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r>
              <a:rPr lang="en-US" sz="1200" kern="0" spc="1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COMPLETE WORKFLOW</a:t>
            </a:r>
            <a:endParaRPr lang="en-US" sz="1200" dirty="0"/>
          </a:p>
        </p:txBody>
      </p:sp>
      <p:sp>
        <p:nvSpPr>
          <p:cNvPr id="101" name="tb"/>
          <p:cNvSpPr/>
          <p:nvPr/>
        </p:nvSpPr>
        <p:spPr>
          <a:xfrm>
            <a:off x="7040880" y="103243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600" dirty="0"/>
          </a:p>
        </p:txBody>
      </p:sp>
      <p:sp>
        <p:nvSpPr>
          <p:cNvPr id="102" name="tb"/>
          <p:cNvSpPr/>
          <p:nvPr/>
        </p:nvSpPr>
        <p:spPr>
          <a:xfrm>
            <a:off x="502920" y="7680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stage, end to end</a:t>
            </a:r>
            <a:endParaRPr lang="en-US" sz="2900" dirty="0"/>
          </a:p>
        </p:txBody>
      </p:sp>
      <p:sp>
        <p:nvSpPr>
          <p:cNvPr id="103" name="ml"/>
          <p:cNvSpPr/>
          <p:nvPr/>
        </p:nvSpPr>
        <p:spPr>
          <a:xfrm>
            <a:off x="502920" y="1510000"/>
            <a:ext cx="143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→ dataset</a:t>
            </a:r>
          </a:p>
        </p:txBody>
      </p:sp>
      <p:sp>
        <p:nvSpPr>
          <p:cNvPr id="104" name="card"/>
          <p:cNvSpPr/>
          <p:nvPr/>
        </p:nvSpPr>
        <p:spPr>
          <a:xfrm>
            <a:off x="2040000" y="1545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5" name="tb"/>
          <p:cNvSpPr/>
          <p:nvPr/>
        </p:nvSpPr>
        <p:spPr>
          <a:xfrm>
            <a:off x="2130000" y="1545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</a:t>
            </a:r>
            <a:endParaRPr lang="en-US" sz="1000" dirty="0"/>
          </a:p>
        </p:txBody>
      </p:sp>
      <p:sp>
        <p:nvSpPr>
          <p:cNvPr id="106" name="tb"/>
          <p:cNvSpPr/>
          <p:nvPr/>
        </p:nvSpPr>
        <p:spPr>
          <a:xfrm>
            <a:off x="3200216" y="1545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7" name="card"/>
          <p:cNvSpPr/>
          <p:nvPr/>
        </p:nvSpPr>
        <p:spPr>
          <a:xfrm>
            <a:off x="3400216" y="1545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8" name="tb"/>
          <p:cNvSpPr/>
          <p:nvPr/>
        </p:nvSpPr>
        <p:spPr>
          <a:xfrm>
            <a:off x="3490216" y="1545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time windows</a:t>
            </a:r>
            <a:endParaRPr lang="en-US" sz="1000" dirty="0"/>
          </a:p>
        </p:txBody>
      </p:sp>
      <p:sp>
        <p:nvSpPr>
          <p:cNvPr id="109" name="tb"/>
          <p:cNvSpPr/>
          <p:nvPr/>
        </p:nvSpPr>
        <p:spPr>
          <a:xfrm>
            <a:off x="4560432" y="1545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0" name="card"/>
          <p:cNvSpPr/>
          <p:nvPr/>
        </p:nvSpPr>
        <p:spPr>
          <a:xfrm>
            <a:off x="4760432" y="1545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1" name="tb"/>
          <p:cNvSpPr/>
          <p:nvPr/>
        </p:nvSpPr>
        <p:spPr>
          <a:xfrm>
            <a:off x="4850432" y="1545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</a:t>
            </a:r>
            <a:endParaRPr lang="en-US" sz="1000" dirty="0"/>
          </a:p>
        </p:txBody>
      </p:sp>
      <p:sp>
        <p:nvSpPr>
          <p:cNvPr id="112" name="tb"/>
          <p:cNvSpPr/>
          <p:nvPr/>
        </p:nvSpPr>
        <p:spPr>
          <a:xfrm>
            <a:off x="5920648" y="1545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3" name="card"/>
          <p:cNvSpPr/>
          <p:nvPr/>
        </p:nvSpPr>
        <p:spPr>
          <a:xfrm>
            <a:off x="6120648" y="1545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4" name="tb"/>
          <p:cNvSpPr/>
          <p:nvPr/>
        </p:nvSpPr>
        <p:spPr>
          <a:xfrm>
            <a:off x="6210648" y="1545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deltas Δ</a:t>
            </a:r>
            <a:endParaRPr lang="en-US" sz="1000" dirty="0"/>
          </a:p>
        </p:txBody>
      </p:sp>
      <p:sp>
        <p:nvSpPr>
          <p:cNvPr id="115" name="tb"/>
          <p:cNvSpPr/>
          <p:nvPr/>
        </p:nvSpPr>
        <p:spPr>
          <a:xfrm>
            <a:off x="7280864" y="1545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6" name="card"/>
          <p:cNvSpPr/>
          <p:nvPr/>
        </p:nvSpPr>
        <p:spPr>
          <a:xfrm>
            <a:off x="7480864" y="1545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7" name="tb"/>
          <p:cNvSpPr/>
          <p:nvPr/>
        </p:nvSpPr>
        <p:spPr>
          <a:xfrm>
            <a:off x="7570864" y="1545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18" name="tb"/>
          <p:cNvSpPr/>
          <p:nvPr/>
        </p:nvSpPr>
        <p:spPr>
          <a:xfrm>
            <a:off x="2040000" y="2095000"/>
            <a:ext cx="660108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features × 5 windows = 145  ·  spectral centroid/rolloff/bandwidth/flatness · RMS+Δ · ZCR · MFCC×13 · dominant freq · onsets · H/P ratio · envelope</a:t>
            </a:r>
            <a:endParaRPr lang="en-US" sz="800" dirty="0"/>
          </a:p>
        </p:txBody>
      </p:sp>
      <p:sp>
        <p:nvSpPr>
          <p:cNvPr id="119" name="ml"/>
          <p:cNvSpPr/>
          <p:nvPr/>
        </p:nvSpPr>
        <p:spPr>
          <a:xfrm>
            <a:off x="502920" y="2322000"/>
            <a:ext cx="143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</a:t>
            </a:r>
          </a:p>
        </p:txBody>
      </p:sp>
      <p:sp>
        <p:nvSpPr>
          <p:cNvPr id="120" name="card"/>
          <p:cNvSpPr/>
          <p:nvPr/>
        </p:nvSpPr>
        <p:spPr>
          <a:xfrm>
            <a:off x="2040000" y="2357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1" name="tb"/>
          <p:cNvSpPr/>
          <p:nvPr/>
        </p:nvSpPr>
        <p:spPr>
          <a:xfrm>
            <a:off x="2130000" y="2357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000" dirty="0"/>
          </a:p>
        </p:txBody>
      </p:sp>
      <p:sp>
        <p:nvSpPr>
          <p:cNvPr id="122" name="tb"/>
          <p:cNvSpPr/>
          <p:nvPr/>
        </p:nvSpPr>
        <p:spPr>
          <a:xfrm>
            <a:off x="3200216" y="2357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3" name="card"/>
          <p:cNvSpPr/>
          <p:nvPr/>
        </p:nvSpPr>
        <p:spPr>
          <a:xfrm>
            <a:off x="3400216" y="2357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4" name="tb"/>
          <p:cNvSpPr/>
          <p:nvPr/>
        </p:nvSpPr>
        <p:spPr>
          <a:xfrm>
            <a:off x="3490216" y="2357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125" name="tb"/>
          <p:cNvSpPr/>
          <p:nvPr/>
        </p:nvSpPr>
        <p:spPr>
          <a:xfrm>
            <a:off x="4560432" y="2357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6" name="card"/>
          <p:cNvSpPr/>
          <p:nvPr/>
        </p:nvSpPr>
        <p:spPr>
          <a:xfrm>
            <a:off x="4760432" y="2357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7" name="tb"/>
          <p:cNvSpPr/>
          <p:nvPr/>
        </p:nvSpPr>
        <p:spPr>
          <a:xfrm>
            <a:off x="4850432" y="2357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/ F1</a:t>
            </a:r>
            <a:endParaRPr lang="en-US" sz="1000" dirty="0"/>
          </a:p>
        </p:txBody>
      </p:sp>
      <p:sp>
        <p:nvSpPr>
          <p:cNvPr id="128" name="tb"/>
          <p:cNvSpPr/>
          <p:nvPr/>
        </p:nvSpPr>
        <p:spPr>
          <a:xfrm>
            <a:off x="5920648" y="2357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9" name="card"/>
          <p:cNvSpPr/>
          <p:nvPr/>
        </p:nvSpPr>
        <p:spPr>
          <a:xfrm>
            <a:off x="6120648" y="2357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0" name="tb"/>
          <p:cNvSpPr/>
          <p:nvPr/>
        </p:nvSpPr>
        <p:spPr>
          <a:xfrm>
            <a:off x="6210648" y="2357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model</a:t>
            </a:r>
            <a:endParaRPr lang="en-US" sz="1000" dirty="0"/>
          </a:p>
        </p:txBody>
      </p:sp>
      <p:sp>
        <p:nvSpPr>
          <p:cNvPr id="131" name="tb"/>
          <p:cNvSpPr/>
          <p:nvPr/>
        </p:nvSpPr>
        <p:spPr>
          <a:xfrm>
            <a:off x="7280864" y="2357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2" name="card"/>
          <p:cNvSpPr/>
          <p:nvPr/>
        </p:nvSpPr>
        <p:spPr>
          <a:xfrm>
            <a:off x="7480864" y="2357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3" name="tb"/>
          <p:cNvSpPr/>
          <p:nvPr/>
        </p:nvSpPr>
        <p:spPr>
          <a:xfrm>
            <a:off x="7570864" y="2357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validate</a:t>
            </a:r>
            <a:endParaRPr lang="en-US" sz="1000" dirty="0"/>
          </a:p>
        </p:txBody>
      </p:sp>
      <p:sp>
        <p:nvSpPr>
          <p:cNvPr id="134" name="tb"/>
          <p:cNvSpPr/>
          <p:nvPr/>
        </p:nvSpPr>
        <p:spPr>
          <a:xfrm>
            <a:off x="2040000" y="2907000"/>
            <a:ext cx="660108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· encode · scale · split   |   FFS · hyper-param tuning · accuracy-vs-features   |   k-fold CV · confusion matrix · metric report</a:t>
            </a:r>
            <a:endParaRPr lang="en-US" sz="800" dirty="0"/>
          </a:p>
        </p:txBody>
      </p:sp>
      <p:sp>
        <p:nvSpPr>
          <p:cNvPr id="135" name="ml"/>
          <p:cNvSpPr/>
          <p:nvPr/>
        </p:nvSpPr>
        <p:spPr>
          <a:xfrm>
            <a:off x="502920" y="3134000"/>
            <a:ext cx="143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2 models</a:t>
            </a:r>
          </a:p>
        </p:txBody>
      </p:sp>
      <p:sp>
        <p:nvSpPr>
          <p:cNvPr id="136" name="card"/>
          <p:cNvSpPr/>
          <p:nvPr/>
        </p:nvSpPr>
        <p:spPr>
          <a:xfrm>
            <a:off x="2040000" y="3169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7" name="tb"/>
          <p:cNvSpPr/>
          <p:nvPr/>
        </p:nvSpPr>
        <p:spPr>
          <a:xfrm>
            <a:off x="2130000" y="3169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RF</a:t>
            </a:r>
            <a:endParaRPr lang="en-US" sz="1000" dirty="0"/>
          </a:p>
        </p:txBody>
      </p:sp>
      <p:sp>
        <p:nvSpPr>
          <p:cNvPr id="138" name="tb"/>
          <p:cNvSpPr/>
          <p:nvPr/>
        </p:nvSpPr>
        <p:spPr>
          <a:xfrm>
            <a:off x="3200216" y="3169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9" name="card"/>
          <p:cNvSpPr/>
          <p:nvPr/>
        </p:nvSpPr>
        <p:spPr>
          <a:xfrm>
            <a:off x="3400216" y="3169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0" name="tb"/>
          <p:cNvSpPr/>
          <p:nvPr/>
        </p:nvSpPr>
        <p:spPr>
          <a:xfrm>
            <a:off x="3490216" y="3169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</a:t>
            </a:r>
            <a:endParaRPr lang="en-US" sz="1000" dirty="0"/>
          </a:p>
        </p:txBody>
      </p:sp>
      <p:sp>
        <p:nvSpPr>
          <p:cNvPr id="141" name="tb"/>
          <p:cNvSpPr/>
          <p:nvPr/>
        </p:nvSpPr>
        <p:spPr>
          <a:xfrm>
            <a:off x="4560432" y="3169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2" name="card"/>
          <p:cNvSpPr/>
          <p:nvPr/>
        </p:nvSpPr>
        <p:spPr>
          <a:xfrm>
            <a:off x="4760432" y="3169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3" name="tb"/>
          <p:cNvSpPr/>
          <p:nvPr/>
        </p:nvSpPr>
        <p:spPr>
          <a:xfrm>
            <a:off x="4850432" y="3169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probabilities</a:t>
            </a:r>
            <a:endParaRPr lang="en-US" sz="1000" dirty="0"/>
          </a:p>
        </p:txBody>
      </p:sp>
      <p:sp>
        <p:nvSpPr>
          <p:cNvPr id="144" name="tb"/>
          <p:cNvSpPr/>
          <p:nvPr/>
        </p:nvSpPr>
        <p:spPr>
          <a:xfrm>
            <a:off x="5920648" y="3169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5" name="card"/>
          <p:cNvSpPr/>
          <p:nvPr/>
        </p:nvSpPr>
        <p:spPr>
          <a:xfrm>
            <a:off x="6120648" y="3169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6" name="tb"/>
          <p:cNvSpPr/>
          <p:nvPr/>
        </p:nvSpPr>
        <p:spPr>
          <a:xfrm>
            <a:off x="6210648" y="3169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</a:t>
            </a:r>
            <a:endParaRPr lang="en-US" sz="1000" dirty="0"/>
          </a:p>
        </p:txBody>
      </p:sp>
      <p:sp>
        <p:nvSpPr>
          <p:cNvPr id="147" name="tb"/>
          <p:cNvSpPr/>
          <p:nvPr/>
        </p:nvSpPr>
        <p:spPr>
          <a:xfrm>
            <a:off x="7280864" y="3169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8" name="card"/>
          <p:cNvSpPr/>
          <p:nvPr/>
        </p:nvSpPr>
        <p:spPr>
          <a:xfrm>
            <a:off x="7480864" y="3169000"/>
            <a:ext cx="1160216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9" name="tb"/>
          <p:cNvSpPr/>
          <p:nvPr/>
        </p:nvSpPr>
        <p:spPr>
          <a:xfrm>
            <a:off x="7570864" y="3169000"/>
            <a:ext cx="98021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report</a:t>
            </a:r>
            <a:endParaRPr lang="en-US" sz="1000" dirty="0"/>
          </a:p>
        </p:txBody>
      </p:sp>
      <p:sp>
        <p:nvSpPr>
          <p:cNvPr id="150" name="tb"/>
          <p:cNvSpPr/>
          <p:nvPr/>
        </p:nvSpPr>
        <p:spPr>
          <a:xfrm>
            <a:off x="2040000" y="3719000"/>
            <a:ext cx="660108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the two models’ class probabilities (0.5 / 0.5)  →  most-likely fill class</a:t>
            </a:r>
            <a:endParaRPr lang="en-US" sz="800" dirty="0"/>
          </a:p>
        </p:txBody>
      </p:sp>
      <p:sp>
        <p:nvSpPr>
          <p:cNvPr id="151" name="ml"/>
          <p:cNvSpPr/>
          <p:nvPr/>
        </p:nvSpPr>
        <p:spPr>
          <a:xfrm>
            <a:off x="502920" y="3946000"/>
            <a:ext cx="143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Flow-rate prediction</a:t>
            </a:r>
          </a:p>
        </p:txBody>
      </p:sp>
      <p:sp>
        <p:nvSpPr>
          <p:cNvPr id="152" name="card"/>
          <p:cNvSpPr/>
          <p:nvPr/>
        </p:nvSpPr>
        <p:spPr>
          <a:xfrm>
            <a:off x="2040000" y="3981000"/>
            <a:ext cx="1500270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3" name="tb"/>
          <p:cNvSpPr/>
          <p:nvPr/>
        </p:nvSpPr>
        <p:spPr>
          <a:xfrm>
            <a:off x="2130000" y="3981000"/>
            <a:ext cx="132027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regression</a:t>
            </a:r>
            <a:endParaRPr lang="en-US" sz="1000" dirty="0"/>
          </a:p>
        </p:txBody>
      </p:sp>
      <p:sp>
        <p:nvSpPr>
          <p:cNvPr id="154" name="tb"/>
          <p:cNvSpPr/>
          <p:nvPr/>
        </p:nvSpPr>
        <p:spPr>
          <a:xfrm>
            <a:off x="3540270" y="3981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5" name="card"/>
          <p:cNvSpPr/>
          <p:nvPr/>
        </p:nvSpPr>
        <p:spPr>
          <a:xfrm>
            <a:off x="3740270" y="3981000"/>
            <a:ext cx="1500270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6" name="tb"/>
          <p:cNvSpPr/>
          <p:nvPr/>
        </p:nvSpPr>
        <p:spPr>
          <a:xfrm>
            <a:off x="3830270" y="3981000"/>
            <a:ext cx="132027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 model</a:t>
            </a:r>
            <a:endParaRPr lang="en-US" sz="1000" dirty="0"/>
          </a:p>
        </p:txBody>
      </p:sp>
      <p:sp>
        <p:nvSpPr>
          <p:cNvPr id="157" name="tb"/>
          <p:cNvSpPr/>
          <p:nvPr/>
        </p:nvSpPr>
        <p:spPr>
          <a:xfrm>
            <a:off x="5240540" y="3981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8" name="card"/>
          <p:cNvSpPr/>
          <p:nvPr/>
        </p:nvSpPr>
        <p:spPr>
          <a:xfrm>
            <a:off x="5440540" y="3981000"/>
            <a:ext cx="1500270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9" name="tb"/>
          <p:cNvSpPr/>
          <p:nvPr/>
        </p:nvSpPr>
        <p:spPr>
          <a:xfrm>
            <a:off x="5530540" y="3981000"/>
            <a:ext cx="132027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flow rate</a:t>
            </a:r>
            <a:endParaRPr lang="en-US" sz="1000" dirty="0"/>
          </a:p>
        </p:txBody>
      </p:sp>
      <p:sp>
        <p:nvSpPr>
          <p:cNvPr id="160" name="tb"/>
          <p:cNvSpPr/>
          <p:nvPr/>
        </p:nvSpPr>
        <p:spPr>
          <a:xfrm>
            <a:off x="6940810" y="3981000"/>
            <a:ext cx="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1" name="card"/>
          <p:cNvSpPr/>
          <p:nvPr/>
        </p:nvSpPr>
        <p:spPr>
          <a:xfrm>
            <a:off x="7140810" y="3981000"/>
            <a:ext cx="1500270" cy="52000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2" name="tb"/>
          <p:cNvSpPr/>
          <p:nvPr/>
        </p:nvSpPr>
        <p:spPr>
          <a:xfrm>
            <a:off x="7230810" y="3981000"/>
            <a:ext cx="132027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results</a:t>
            </a:r>
            <a:endParaRPr lang="en-US" sz="1000" dirty="0"/>
          </a:p>
        </p:txBody>
      </p:sp>
      <p:sp>
        <p:nvSpPr>
          <p:cNvPr id="163" name="tb"/>
          <p:cNvSpPr/>
          <p:nvPr/>
        </p:nvSpPr>
        <p:spPr>
          <a:xfrm>
            <a:off x="2040000" y="4531000"/>
            <a:ext cx="660108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 physical cross-check  ·  flow rate = (fill % × cup capacity) / duration</a:t>
            </a:r>
            <a:endParaRPr lang="en-US" sz="800" dirty="0"/>
          </a:p>
        </p:txBody>
      </p:sp>
      <p:sp>
        <p:nvSpPr>
          <p:cNvPr id="164" name="tb"/>
          <p:cNvSpPr/>
          <p:nvPr/>
        </p:nvSpPr>
        <p:spPr>
          <a:xfrm>
            <a:off x="50292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 WATER-LEVEL DETECTION</a:t>
            </a:r>
            <a:endParaRPr lang="en-US" sz="800" dirty="0"/>
          </a:p>
        </p:txBody>
      </p:sp>
      <p:sp>
        <p:nvSpPr>
          <p:cNvPr id="165" name="tb"/>
          <p:cNvSpPr/>
          <p:nvPr/>
        </p:nvSpPr>
        <p:spPr>
          <a:xfrm>
            <a:off x="7863840" y="48508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/ INSIGHTS · CONCLUSION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556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6824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Physics-driven features win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9808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Flatness &amp; onsets — pouring cues — topped the ranking.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617720" y="1572768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7556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1224" y="16824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can beat fancy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818888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matched/beat tuned XGBoost here.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265176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8346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276148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49808" y="30906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+ leave-one-cup-out kept scores leak-free.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4617720" y="265176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171D27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83464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21224" y="276148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not vibes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18888" y="30906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Flow-rate agreement physically confirms predictions.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48640" y="3822192"/>
            <a:ext cx="8092440" cy="914400"/>
          </a:xfrm>
          <a:prstGeom prst="roundRect">
            <a:avLst>
              <a:gd name="adj" fmla="val 6000"/>
            </a:avLst>
          </a:prstGeom>
          <a:solidFill>
            <a:srgbClr val="1C2531"/>
          </a:solidFill>
          <a:ln w="12700">
            <a:solidFill>
              <a:srgbClr val="2C37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04164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387705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classical-ML acoustic level sensor works — up to 98% test accuracy, ~96% CV, errors only adjacent. We ran it end to end – from gathering the recordings, through preprocessing, to training the models on the data.</a:t>
            </a:r>
            <a:endParaRPr lang="en-US" sz="1350" dirty="0"/>
          </a:p>
        </p:txBody>
      </p:sp>
      <p:sp>
        <p:nvSpPr>
          <p:cNvPr id="23" name="tb">
            <a:extLst>
              <a:ext uri="{FF2B5EF4-FFF2-40B4-BE49-F238E27FC236}">
                <a16:creationId xmlns:a16="http://schemas.microsoft.com/office/drawing/2014/main" id="{B6A22A42-DC47-5D3B-2263-7C37FD14633E}"/>
              </a:ext>
            </a:extLst>
          </p:cNvPr>
          <p:cNvSpPr/>
          <p:nvPr/>
        </p:nvSpPr>
        <p:spPr>
          <a:xfrm>
            <a:off x="7038027" y="105513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3C3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2570</Words>
  <Application>Microsoft Office PowerPoint</Application>
  <PresentationFormat>‫הצגה על המסך (16:9)</PresentationFormat>
  <Paragraphs>476</Paragraphs>
  <Slides>23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Acoustic Water-Level Detection — Detailed</dc:title>
  <dc:subject>PptxGenJS Presentation</dc:subject>
  <dc:creator>Or, Tamir, Amit, Yuval</dc:creator>
  <cp:lastModifiedBy>לריסה חולואידובסקי</cp:lastModifiedBy>
  <cp:revision>22</cp:revision>
  <dcterms:created xsi:type="dcterms:W3CDTF">2026-06-09T07:17:00Z</dcterms:created>
  <dcterms:modified xsi:type="dcterms:W3CDTF">2026-06-13T14:42:20Z</dcterms:modified>
</cp:coreProperties>
</file>